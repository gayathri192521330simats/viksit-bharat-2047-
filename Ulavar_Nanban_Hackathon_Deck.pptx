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C82D6C3-E691-4D2B-1237-1559CFE415B9}">
          <p14:sldIdLst>
            <p14:sldId id="256"/>
            <p14:sldId id="257"/>
          </p14:sldIdLst>
        </p14:section>
        <p14:section name="Solution" id="{ED040728-D783-C62E-2A19-7FFB24B9D583}">
          <p14:sldIdLst>
            <p14:sldId id="258"/>
          </p14:sldIdLst>
        </p14:section>
        <p14:section name="Product" id="{A037B517-C861-1E07-397E-9797BC748AA9}">
          <p14:sldIdLst>
            <p14:sldId id="259"/>
            <p14:sldId id="260"/>
            <p14:sldId id="261"/>
            <p14:sldId id="262"/>
          </p14:sldIdLst>
        </p14:section>
        <p14:section name="Technology" id="{66B56F14-0512-7634-9D72-5ED693469641}">
          <p14:sldIdLst>
            <p14:sldId id="263"/>
          </p14:sldIdLst>
        </p14:section>
        <p14:section name="Impact" id="{34DED06C-FFA3-BC17-A499-F7CF1D786DF1}">
          <p14:sldIdLst>
            <p14:sldId id="264"/>
          </p14:sldIdLst>
        </p14:section>
        <p14:section name="Close" id="{68BE4692-9ACC-D076-73B5-DB730CE14E8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DC0B02E-9D0F-A244-ADF1-CD0DB42BB3DE}" type="datetimeFigureOut">
              <a:rPr lang="en-US" smtClean="0"/>
              <a:t>10/23/2026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BE3B162-5844-5641-9E9A-69E5A9D34B33}" type="slidenum">
              <a:rPr lang="en-US" smtClean="0"/>
              <a:t>‹#›</a:t>
            </a:fld>
            <a:endParaRPr lang="en-US"/>
          </a:p>
        </p:txBody>
      </p:sp>
    </p:spTree>
    <p:extLst>
      <p:ext uri="{BB962C8B-B14F-4D97-AF65-F5344CB8AC3E}">
        <p14:creationId xmlns:p14="http://schemas.microsoft.com/office/powerpoint/2010/main" val="13897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everyone. We are Team [Team Name], and this is Ulavar Nanban — which means "the farmer's friend". Our idea is simple: a farmer should not have to open five different websites to plan profit, prepare for a disaster, find a scheme or write a complaint. Ulavar Nanban brings these into one friendly website, in English, Tamil and Hindi. What you see on the right are real screenshots from our working prototype, not mock-ups.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a farmer making a decision today. Market information is on one site, weather warnings on another, scheme details on a third, and complaint portals somewhere else. Working out real profit after all costs is hard. Disaster guidance can be difficult to find when you need it. And many digital tools do not speak the farmer's language. We are not claiming statistics here — this is the everyday friction we set out to reduce.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Ulavar Nanban is one website with a single menu. A farmer gets a personalised dashboard, a profit planner, disaster support, government scheme guidance, a grievance drafting tool and a multilingual assistant. The picture on the left is the real navigation menu from our prototype. There is also a farmer profile page where district, crop and language are saved on the farmer's own device.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product. The dashboard shows a hero message, quick actions, and three at-a-glance cards: estimated net profit, schemes to explore and disaster steps. Below that, an action plan and a market snapshot — clearly labelled as illustrative sample data. The language switcher in the top right changes the interface between English, Tamil and Hindi. Everything here is a real screenshot of what we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profit planner answers a simple question: after all my costs, what do I actually earn? The farmer enters quantity, selling price, cultivation cost, transport and market commission. The page instantly shows estimated sales, total expenses, net profit and profit margin. For example, with the default values in our app — 45 quintals at 2,300 rupees — sales are 1,03,500, costs come to 46,570 including a 2 percent commission, so net profit is 56,930, a 55 percent margin. These prices are illustrative examples, not live mandi prices. The table at the bottom compares three sample markets after transport.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protect the farmer. On the left, disaster support: a tick-able preparedness checklist, practical steps if a crop is damaged — document it, contact the right office, keep proof — and links to official sources like IMD and the Tamil Nadu disaster agency. It does not fetch live alerts and does not use GPS. On the right, the scheme finder: searchable cards for central and Tamil Nadu resources, each with eligibility guidance, documents to check and a link to the official portal. These are starter guides — we always tell farmers to confirm current rules on the official website.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farmers struggle to put a problem into a formal letter. The grievance assistant asks for the issue type, a short subject and what happened, then prepares an editable draft in the selected language. The farmer reads it, edits it, copies it, and submits it through the right official portal. We are clear: the website never submits complaints by itself. Next to it, the language assistant gives guided answers in English, Tamil and Hindi using prepared responses and simple topic matching — it is not an external AI model. Voice input and read-aloud use the browser's own speech features where the browser supports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honest technology picture. Ulavar Nanban is a frontend prototype built with React and Vite, styled with custom responsive CSS, with lucide icons. The farmer uses the browser; the interface connects to seven feature modules; calculations and the assistant's topic matching run in the browser itself; the farmer profile is saved in the browser's local storage; and everything else is a link to an official source. Voice features use the standard Web Speech API where the browser supports it. We deliberately did not claim a backend, a database, authentication or an AI model — they do not exist yet, and they are in our roadmap.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new here is not one clever feature but the combination: profit estimation, disaster guidance, scheme resources, complaint drafting and multilingual help in one accessible interface. On the left is what already works today. On the right is what we would build next with proper data and security: live verified market prices, district-level weather and disaster alerts, a maintained scheme database, a secure backend with authentication, and more languages and accessibility features. We have not run a user study, so we are not claiming measured impact — we are showing a working prototype and a clear path.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farmers deserve information that is simple, in their language, and in one place. Ulavar Nanban is a working prototype that shows how profit planning, disaster readiness, scheme guidance and complaint drafting can live together — and we have been honest about what is built and what is next. Our vision is to make farmer support simpler and more accessible. Thank you — we would be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F72"/>
                </a:solidFill>
              </a:rPr>
              <a:t>ULAVAR NANBAN  ·  HACKATHON PROTOTYPE</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2E2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3.xml" /><Relationship Id="rId5" Type="http://schemas.openxmlformats.org/officeDocument/2006/relationships/image" Target="../media/image3.png"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8" Type="http://schemas.openxmlformats.org/officeDocument/2006/relationships/image" Target="../media/image9.png" /><Relationship Id="rId3" Type="http://schemas.openxmlformats.org/officeDocument/2006/relationships/image" Target="../media/image4.png" /><Relationship Id="rId7" Type="http://schemas.openxmlformats.org/officeDocument/2006/relationships/image" Target="../media/image8.png" /><Relationship Id="rId2" Type="http://schemas.openxmlformats.org/officeDocument/2006/relationships/notesSlide" Target="../notesSlides/notesSlide2.xml" /><Relationship Id="rId1" Type="http://schemas.openxmlformats.org/officeDocument/2006/relationships/slideLayout" Target="../slideLayouts/slideLayout2.xml" /><Relationship Id="rId6" Type="http://schemas.openxmlformats.org/officeDocument/2006/relationships/image" Target="../media/image7.png" /><Relationship Id="rId5" Type="http://schemas.openxmlformats.org/officeDocument/2006/relationships/image" Target="../media/image6.png" /><Relationship Id="rId4" Type="http://schemas.openxmlformats.org/officeDocument/2006/relationships/image" Target="../media/image5.png" /></Relationships>
</file>

<file path=ppt/slides/_rels/slide3.xml.rels><?xml version="1.0" encoding="UTF-8" standalone="yes"?>
<Relationships xmlns="http://schemas.openxmlformats.org/package/2006/relationships"><Relationship Id="rId8" Type="http://schemas.openxmlformats.org/officeDocument/2006/relationships/image" Target="../media/image12.png" /><Relationship Id="rId3" Type="http://schemas.openxmlformats.org/officeDocument/2006/relationships/image" Target="../media/image10.png" /><Relationship Id="rId7" Type="http://schemas.openxmlformats.org/officeDocument/2006/relationships/image" Target="../media/image7.png" /><Relationship Id="rId2" Type="http://schemas.openxmlformats.org/officeDocument/2006/relationships/notesSlide" Target="../notesSlides/notesSlide3.xml" /><Relationship Id="rId1" Type="http://schemas.openxmlformats.org/officeDocument/2006/relationships/slideLayout" Target="../slideLayouts/slideLayout2.xml" /><Relationship Id="rId6" Type="http://schemas.openxmlformats.org/officeDocument/2006/relationships/image" Target="../media/image6.png" /><Relationship Id="rId5" Type="http://schemas.openxmlformats.org/officeDocument/2006/relationships/image" Target="../media/image5.png" /><Relationship Id="rId4" Type="http://schemas.openxmlformats.org/officeDocument/2006/relationships/image" Target="../media/image11.png" /><Relationship Id="rId9" Type="http://schemas.openxmlformats.org/officeDocument/2006/relationships/image" Target="../media/image8.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2.xml" /><Relationship Id="rId4" Type="http://schemas.openxmlformats.org/officeDocument/2006/relationships/image" Target="../media/image13.png"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xml" /><Relationship Id="rId1" Type="http://schemas.openxmlformats.org/officeDocument/2006/relationships/slideLayout" Target="../slideLayouts/slideLayout2.xml" /><Relationship Id="rId5" Type="http://schemas.openxmlformats.org/officeDocument/2006/relationships/image" Target="../media/image15.png" /><Relationship Id="rId4" Type="http://schemas.openxmlformats.org/officeDocument/2006/relationships/image" Target="../media/image14.png" /></Relationships>
</file>

<file path=ppt/slides/_rels/slide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6.xml" /><Relationship Id="rId1" Type="http://schemas.openxmlformats.org/officeDocument/2006/relationships/slideLayout" Target="../slideLayouts/slideLayout2.xml" /><Relationship Id="rId6" Type="http://schemas.openxmlformats.org/officeDocument/2006/relationships/image" Target="../media/image17.png" /><Relationship Id="rId5" Type="http://schemas.openxmlformats.org/officeDocument/2006/relationships/image" Target="../media/image7.png" /><Relationship Id="rId4" Type="http://schemas.openxmlformats.org/officeDocument/2006/relationships/image" Target="../media/image16.png" /></Relationships>
</file>

<file path=ppt/slides/_rels/slide7.xml.rels><?xml version="1.0" encoding="UTF-8" standalone="yes"?>
<Relationships xmlns="http://schemas.openxmlformats.org/package/2006/relationships"><Relationship Id="rId8" Type="http://schemas.openxmlformats.org/officeDocument/2006/relationships/image" Target="../media/image22.png" /><Relationship Id="rId3" Type="http://schemas.openxmlformats.org/officeDocument/2006/relationships/image" Target="../media/image18.png" /><Relationship Id="rId7" Type="http://schemas.openxmlformats.org/officeDocument/2006/relationships/image" Target="../media/image21.png" /><Relationship Id="rId2" Type="http://schemas.openxmlformats.org/officeDocument/2006/relationships/notesSlide" Target="../notesSlides/notesSlide7.xml" /><Relationship Id="rId1" Type="http://schemas.openxmlformats.org/officeDocument/2006/relationships/slideLayout" Target="../slideLayouts/slideLayout2.xml" /><Relationship Id="rId6" Type="http://schemas.openxmlformats.org/officeDocument/2006/relationships/image" Target="../media/image8.png" /><Relationship Id="rId5" Type="http://schemas.openxmlformats.org/officeDocument/2006/relationships/image" Target="../media/image20.png" /><Relationship Id="rId4" Type="http://schemas.openxmlformats.org/officeDocument/2006/relationships/image" Target="../media/image19.png" /><Relationship Id="rId9" Type="http://schemas.openxmlformats.org/officeDocument/2006/relationships/image" Target="../media/image23.png" /></Relationships>
</file>

<file path=ppt/slides/_rels/slide8.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8.xml" /><Relationship Id="rId1" Type="http://schemas.openxmlformats.org/officeDocument/2006/relationships/slideLayout" Target="../slideLayouts/slideLayout2.xml" /><Relationship Id="rId6" Type="http://schemas.openxmlformats.org/officeDocument/2006/relationships/image" Target="../media/image22.png" /><Relationship Id="rId5" Type="http://schemas.openxmlformats.org/officeDocument/2006/relationships/image" Target="../media/image24.png" /><Relationship Id="rId4" Type="http://schemas.openxmlformats.org/officeDocument/2006/relationships/image" Target="../media/image4.png" /></Relationships>
</file>

<file path=ppt/slides/_rels/slide9.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9.xml" /><Relationship Id="rId1" Type="http://schemas.openxmlformats.org/officeDocument/2006/relationships/slideLayout" Target="../slideLayouts/slideLayout2.xml" /><Relationship Id="rId5" Type="http://schemas.openxmlformats.org/officeDocument/2006/relationships/image" Target="../media/image26.png" /><Relationship Id="rId4" Type="http://schemas.openxmlformats.org/officeDocument/2006/relationships/image" Target="../media/image23.png" /></Relationships>
</file>

<file path=ppt/slides/_rels/slide10.xml.rels><?xml version="1.0" encoding="UTF-8" standalone="yes"?>
<Relationships xmlns="http://schemas.openxmlformats.org/package/2006/relationships"><Relationship Id="rId8" Type="http://schemas.openxmlformats.org/officeDocument/2006/relationships/image" Target="../media/image2.png" /><Relationship Id="rId3" Type="http://schemas.openxmlformats.org/officeDocument/2006/relationships/image" Target="../media/image27.jpeg" /><Relationship Id="rId7" Type="http://schemas.openxmlformats.org/officeDocument/2006/relationships/image" Target="../media/image31.png" /><Relationship Id="rId2" Type="http://schemas.openxmlformats.org/officeDocument/2006/relationships/notesSlide" Target="../notesSlides/notesSlide10.xml" /><Relationship Id="rId1" Type="http://schemas.openxmlformats.org/officeDocument/2006/relationships/slideLayout" Target="../slideLayouts/slideLayout3.xml" /><Relationship Id="rId6" Type="http://schemas.openxmlformats.org/officeDocument/2006/relationships/image" Target="../media/image30.png" /><Relationship Id="rId5" Type="http://schemas.openxmlformats.org/officeDocument/2006/relationships/image" Target="../media/image29.png" /><Relationship Id="rId10" Type="http://schemas.openxmlformats.org/officeDocument/2006/relationships/image" Target="../media/image17.png" /><Relationship Id="rId4" Type="http://schemas.openxmlformats.org/officeDocument/2006/relationships/image" Target="../media/image28.png" /><Relationship Id="rId9"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48640"/>
            <a:ext cx="5394960" cy="38404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640080" y="548640"/>
            <a:ext cx="5394960" cy="384048"/>
          </a:xfrm>
          <a:prstGeom prst="rect">
            <a:avLst/>
          </a:prstGeom>
          <a:noFill/>
          <a:ln/>
        </p:spPr>
        <p:txBody>
          <a:bodyPr wrap="square" lIns="0" tIns="0" rIns="0" bIns="0" rtlCol="0" anchor="ctr"/>
          <a:lstStyle/>
          <a:p>
            <a:pPr marL="0" indent="0" algn="ctr">
              <a:buNone/>
            </a:pPr>
            <a:r>
              <a:rPr lang="en-US" sz="1400" b="1" dirty="0">
                <a:solidFill>
                  <a:schemeClr val="tx1"/>
                </a:solidFill>
              </a:rPr>
              <a:t>HACKATHON PROJECT  ·  AGRI-TECH FOR SOCIAL GOOD</a:t>
            </a:r>
            <a:endParaRPr lang="en-US" sz="1400" dirty="0"/>
          </a:p>
        </p:txBody>
      </p:sp>
      <p:sp>
        <p:nvSpPr>
          <p:cNvPr id="4" name="Text 2"/>
          <p:cNvSpPr txBox="1"/>
          <p:nvPr/>
        </p:nvSpPr>
        <p:spPr>
          <a:xfrm>
            <a:off x="640080" y="1234440"/>
            <a:ext cx="5669280" cy="91440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ULAVAR NANBAN</a:t>
            </a:r>
            <a:endParaRPr lang="en-US" sz="5400" dirty="0"/>
          </a:p>
        </p:txBody>
      </p:sp>
      <p:sp>
        <p:nvSpPr>
          <p:cNvPr id="5" name="Text 3"/>
          <p:cNvSpPr txBox="1"/>
          <p:nvPr/>
        </p:nvSpPr>
        <p:spPr>
          <a:xfrm>
            <a:off x="640080" y="2103120"/>
            <a:ext cx="5486400" cy="411480"/>
          </a:xfrm>
          <a:prstGeom prst="rect">
            <a:avLst/>
          </a:prstGeom>
          <a:noFill/>
          <a:ln/>
        </p:spPr>
        <p:txBody>
          <a:bodyPr wrap="square" lIns="0" tIns="0" rIns="0" bIns="0" rtlCol="0" anchor="ctr"/>
          <a:lstStyle/>
          <a:p>
            <a:pPr marL="0" indent="0">
              <a:buNone/>
            </a:pPr>
            <a:r>
              <a:rPr lang="en-US" sz="2000" dirty="0">
                <a:solidFill>
                  <a:srgbClr val="CFE7B4"/>
                </a:solidFill>
              </a:rPr>
              <a:t>உழவர் நண்பன்</a:t>
            </a:r>
            <a:endParaRPr lang="en-US" sz="2000" dirty="0"/>
          </a:p>
        </p:txBody>
      </p:sp>
      <p:sp>
        <p:nvSpPr>
          <p:cNvPr id="6" name="Text 4"/>
          <p:cNvSpPr txBox="1"/>
          <p:nvPr/>
        </p:nvSpPr>
        <p:spPr>
          <a:xfrm>
            <a:off x="640080" y="2697480"/>
            <a:ext cx="5577840" cy="914400"/>
          </a:xfrm>
          <a:prstGeom prst="rect">
            <a:avLst/>
          </a:prstGeom>
          <a:noFill/>
          <a:ln/>
        </p:spPr>
        <p:txBody>
          <a:bodyPr wrap="square" lIns="0" tIns="0" rIns="0" bIns="0" rtlCol="0" anchor="t"/>
          <a:lstStyle/>
          <a:p>
            <a:pPr marL="0" indent="0">
              <a:buNone/>
            </a:pPr>
            <a:r>
              <a:rPr lang="en-US" sz="2600" b="1" dirty="0">
                <a:solidFill>
                  <a:srgbClr val="E9CF7A"/>
                </a:solidFill>
              </a:rPr>
              <a:t>One Digital Companion for Smarter Farming Decisions</a:t>
            </a:r>
            <a:endParaRPr lang="en-US" sz="2600" dirty="0"/>
          </a:p>
        </p:txBody>
      </p:sp>
      <p:sp>
        <p:nvSpPr>
          <p:cNvPr id="7" name="Text 5"/>
          <p:cNvSpPr txBox="1"/>
          <p:nvPr/>
        </p:nvSpPr>
        <p:spPr>
          <a:xfrm>
            <a:off x="640080" y="3749040"/>
            <a:ext cx="5394960" cy="1005840"/>
          </a:xfrm>
          <a:prstGeom prst="rect">
            <a:avLst/>
          </a:prstGeom>
          <a:noFill/>
          <a:ln/>
        </p:spPr>
        <p:txBody>
          <a:bodyPr wrap="square" lIns="0" tIns="0" rIns="0" bIns="0" rtlCol="0" anchor="t"/>
          <a:lstStyle/>
          <a:p>
            <a:pPr marL="0" indent="0">
              <a:buNone/>
            </a:pPr>
            <a:r>
              <a:rPr lang="en-US" sz="1600" dirty="0">
                <a:solidFill>
                  <a:srgbClr val="E6F0E0"/>
                </a:solidFill>
              </a:rPr>
              <a:t>Profit planning, disaster readiness, scheme guidance and complaint drafting — in English, Tamil and Hindi, in one simple website.</a:t>
            </a:r>
            <a:endParaRPr lang="en-US" sz="1600" dirty="0"/>
          </a:p>
        </p:txBody>
      </p:sp>
      <p:sp>
        <p:nvSpPr>
          <p:cNvPr id="8" name="Text 6"/>
          <p:cNvSpPr txBox="1"/>
          <p:nvPr/>
        </p:nvSpPr>
        <p:spPr>
          <a:xfrm>
            <a:off x="640080" y="5212080"/>
            <a:ext cx="5669280" cy="731520"/>
          </a:xfrm>
          <a:prstGeom prst="rect">
            <a:avLst/>
          </a:prstGeom>
          <a:noFill/>
          <a:ln/>
        </p:spPr>
        <p:txBody>
          <a:bodyPr wrap="square" lIns="0" tIns="0" rIns="0" bIns="0" rtlCol="0" anchor="t"/>
          <a:lstStyle/>
          <a:p>
            <a:pPr marL="0" indent="0">
              <a:spcAft>
                <a:spcPts val="400"/>
              </a:spcAft>
              <a:buNone/>
            </a:pPr>
            <a:r>
              <a:rPr lang="en-US" sz="1400" b="1" dirty="0">
                <a:solidFill>
                  <a:srgbClr val="E9CF7A"/>
                </a:solidFill>
              </a:rPr>
              <a:t>TEAM  </a:t>
            </a:r>
            <a:r>
              <a:rPr lang="en-US" sz="1400" b="1" dirty="0">
                <a:solidFill>
                  <a:schemeClr val="bg1"/>
                </a:solidFill>
              </a:rPr>
              <a:t>[Team Name]</a:t>
            </a:r>
            <a:endParaRPr lang="en-US" sz="1400" dirty="0"/>
          </a:p>
          <a:p>
            <a:pPr marL="0" indent="0">
              <a:spcAft>
                <a:spcPts val="400"/>
              </a:spcAft>
              <a:buNone/>
            </a:pPr>
            <a:r>
              <a:rPr lang="en-US" sz="1400" dirty="0">
                <a:solidFill>
                  <a:srgbClr val="E6F0E0"/>
                </a:solidFill>
              </a:rPr>
              <a:t>[Member 1]  ·  [Member 2]  ·  [Member 3]  ·  [Member 4]</a:t>
            </a:r>
            <a:endParaRPr lang="en-US" sz="1400" dirty="0"/>
          </a:p>
        </p:txBody>
      </p:sp>
      <p:sp>
        <p:nvSpPr>
          <p:cNvPr id="9" name="Dashboard screenshot frame"/>
          <p:cNvSpPr/>
          <p:nvPr/>
        </p:nvSpPr>
        <p:spPr>
          <a:xfrm>
            <a:off x="6464808" y="1161288"/>
            <a:ext cx="5266944" cy="3169114"/>
          </a:xfrm>
          <a:prstGeom prst="roundRect">
            <a:avLst>
              <a:gd name="adj" fmla="val 3462"/>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10" name="Dashboard screenshot" descr="Dashboard screenshot"/>
          <p:cNvPicPr>
            <a:picLocks noChangeAspect="1"/>
          </p:cNvPicPr>
          <p:nvPr/>
        </p:nvPicPr>
        <p:blipFill>
          <a:blip r:embed="rId4"/>
          <a:stretch>
            <a:fillRect/>
          </a:stretch>
        </p:blipFill>
        <p:spPr>
          <a:xfrm>
            <a:off x="6537960" y="1234440"/>
            <a:ext cx="5120640" cy="3022810"/>
          </a:xfrm>
          <a:prstGeom prst="rect">
            <a:avLst/>
          </a:prstGeom>
        </p:spPr>
      </p:pic>
      <p:sp>
        <p:nvSpPr>
          <p:cNvPr id="11" name="profit card"/>
          <p:cNvSpPr/>
          <p:nvPr/>
        </p:nvSpPr>
        <p:spPr>
          <a:xfrm>
            <a:off x="5989320" y="4343400"/>
            <a:ext cx="2743200" cy="1554480"/>
          </a:xfrm>
          <a:prstGeom prst="roundRect">
            <a:avLst>
              <a:gd name="adj" fmla="val 7059"/>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pic>
        <p:nvPicPr>
          <p:cNvPr id="12" name="Image 1" descr="Profit planner screenshot"/>
          <p:cNvPicPr>
            <a:picLocks noChangeAspect="1"/>
          </p:cNvPicPr>
          <p:nvPr/>
        </p:nvPicPr>
        <p:blipFill>
          <a:blip r:embed="rId5"/>
          <a:stretch>
            <a:fillRect/>
          </a:stretch>
        </p:blipFill>
        <p:spPr>
          <a:xfrm>
            <a:off x="6062472" y="4416552"/>
            <a:ext cx="2596896" cy="1366114"/>
          </a:xfrm>
          <a:prstGeom prst="rect">
            <a:avLst/>
          </a:prstGeom>
        </p:spPr>
      </p:pic>
      <p:sp>
        <p:nvSpPr>
          <p:cNvPr id="13" name="Shape 9"/>
          <p:cNvSpPr/>
          <p:nvPr/>
        </p:nvSpPr>
        <p:spPr>
          <a:xfrm>
            <a:off x="9006840" y="5029200"/>
            <a:ext cx="2377440" cy="384048"/>
          </a:xfrm>
          <a:prstGeom prst="roundRect">
            <a:avLst>
              <a:gd name="adj" fmla="val 50000"/>
            </a:avLst>
          </a:prstGeom>
          <a:solidFill>
            <a:srgbClr val="E9CF7A"/>
          </a:solidFill>
          <a:ln w="12700">
            <a:solidFill>
              <a:srgbClr val="E9CF7A"/>
            </a:solidFill>
            <a:prstDash val="solid"/>
          </a:ln>
        </p:spPr>
      </p:sp>
      <p:sp>
        <p:nvSpPr>
          <p:cNvPr id="14" name="Text 10"/>
          <p:cNvSpPr txBox="1"/>
          <p:nvPr/>
        </p:nvSpPr>
        <p:spPr>
          <a:xfrm>
            <a:off x="9006840" y="5029200"/>
            <a:ext cx="2377440" cy="384048"/>
          </a:xfrm>
          <a:prstGeom prst="rect">
            <a:avLst/>
          </a:prstGeom>
          <a:noFill/>
          <a:ln/>
        </p:spPr>
        <p:txBody>
          <a:bodyPr wrap="square" lIns="0" tIns="0" rIns="0" bIns="0" rtlCol="0" anchor="ctr"/>
          <a:lstStyle/>
          <a:p>
            <a:pPr marL="0" indent="0" algn="ctr">
              <a:buNone/>
            </a:pPr>
            <a:r>
              <a:rPr lang="en-US" sz="1400" b="1" dirty="0">
                <a:solidFill>
                  <a:schemeClr val="tx1"/>
                </a:solidFill>
              </a:rPr>
              <a:t>Actual screenshots</a:t>
            </a:r>
            <a:endParaRPr lang="en-US" sz="1400" dirty="0"/>
          </a:p>
        </p:txBody>
      </p:sp>
      <p:sp>
        <p:nvSpPr>
          <p:cNvPr id="15" name="Text 11"/>
          <p:cNvSpPr txBox="1"/>
          <p:nvPr/>
        </p:nvSpPr>
        <p:spPr>
          <a:xfrm>
            <a:off x="9006840" y="5468112"/>
            <a:ext cx="2743200" cy="320040"/>
          </a:xfrm>
          <a:prstGeom prst="rect">
            <a:avLst/>
          </a:prstGeom>
          <a:noFill/>
          <a:ln/>
        </p:spPr>
        <p:txBody>
          <a:bodyPr wrap="square" lIns="0" tIns="0" rIns="0" bIns="0" rtlCol="0" anchor="ctr"/>
          <a:lstStyle/>
          <a:p>
            <a:pPr marL="0" indent="0">
              <a:buNone/>
            </a:pPr>
            <a:r>
              <a:rPr lang="en-US" sz="1200" dirty="0">
                <a:solidFill>
                  <a:srgbClr val="E6F0E0"/>
                </a:solidFill>
              </a:rPr>
              <a:t>From the working React prototype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THE PROBLEM</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Farmers juggle too many scattered sources</a:t>
            </a:r>
            <a:endParaRPr lang="en-US" sz="3400" dirty="0"/>
          </a:p>
        </p:txBody>
      </p:sp>
      <p:sp>
        <p:nvSpPr>
          <p:cNvPr id="4" name="Shape 2"/>
          <p:cNvSpPr/>
          <p:nvPr/>
        </p:nvSpPr>
        <p:spPr>
          <a:xfrm>
            <a:off x="4114800" y="2331720"/>
            <a:ext cx="1097280" cy="502920"/>
          </a:xfrm>
          <a:prstGeom prst="line">
            <a:avLst/>
          </a:prstGeom>
          <a:noFill/>
          <a:ln w="31750">
            <a:solidFill>
              <a:schemeClr val="accent3"/>
            </a:solidFill>
            <a:prstDash val="dash"/>
          </a:ln>
        </p:spPr>
      </p:sp>
      <p:sp>
        <p:nvSpPr>
          <p:cNvPr id="5" name="Shape 3"/>
          <p:cNvSpPr/>
          <p:nvPr/>
        </p:nvSpPr>
        <p:spPr>
          <a:xfrm flipV="1">
            <a:off x="4114800" y="3703320"/>
            <a:ext cx="1097280" cy="548640"/>
          </a:xfrm>
          <a:prstGeom prst="line">
            <a:avLst/>
          </a:prstGeom>
          <a:noFill/>
          <a:ln w="31750">
            <a:solidFill>
              <a:schemeClr val="accent3"/>
            </a:solidFill>
            <a:prstDash val="dash"/>
          </a:ln>
        </p:spPr>
      </p:sp>
      <p:sp>
        <p:nvSpPr>
          <p:cNvPr id="6" name="Shape 4"/>
          <p:cNvSpPr/>
          <p:nvPr/>
        </p:nvSpPr>
        <p:spPr>
          <a:xfrm flipV="1">
            <a:off x="6995160" y="2331720"/>
            <a:ext cx="1078992" cy="502920"/>
          </a:xfrm>
          <a:prstGeom prst="line">
            <a:avLst/>
          </a:prstGeom>
          <a:noFill/>
          <a:ln w="31750">
            <a:solidFill>
              <a:schemeClr val="accent3"/>
            </a:solidFill>
            <a:prstDash val="dash"/>
          </a:ln>
        </p:spPr>
      </p:sp>
      <p:sp>
        <p:nvSpPr>
          <p:cNvPr id="7" name="Shape 5"/>
          <p:cNvSpPr/>
          <p:nvPr/>
        </p:nvSpPr>
        <p:spPr>
          <a:xfrm>
            <a:off x="6995160" y="3703320"/>
            <a:ext cx="1078992" cy="548640"/>
          </a:xfrm>
          <a:prstGeom prst="line">
            <a:avLst/>
          </a:prstGeom>
          <a:noFill/>
          <a:ln w="31750">
            <a:solidFill>
              <a:schemeClr val="accent3"/>
            </a:solidFill>
            <a:prstDash val="dash"/>
          </a:ln>
        </p:spPr>
      </p:sp>
      <p:sp>
        <p:nvSpPr>
          <p:cNvPr id="8" name="Shape 6"/>
          <p:cNvSpPr/>
          <p:nvPr/>
        </p:nvSpPr>
        <p:spPr>
          <a:xfrm>
            <a:off x="6099048" y="4206240"/>
            <a:ext cx="0" cy="868680"/>
          </a:xfrm>
          <a:prstGeom prst="line">
            <a:avLst/>
          </a:prstGeom>
          <a:noFill/>
          <a:ln w="31750">
            <a:solidFill>
              <a:schemeClr val="accent3"/>
            </a:solidFill>
            <a:prstDash val="dash"/>
          </a:ln>
        </p:spPr>
      </p:sp>
      <p:sp>
        <p:nvSpPr>
          <p:cNvPr id="9" name="Scattered information"/>
          <p:cNvSpPr/>
          <p:nvPr/>
        </p:nvSpPr>
        <p:spPr>
          <a:xfrm>
            <a:off x="548640" y="1508760"/>
            <a:ext cx="3566160" cy="1645920"/>
          </a:xfrm>
          <a:prstGeom prst="roundRect">
            <a:avLst>
              <a:gd name="adj" fmla="val 6667"/>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10" name="Shape 8"/>
          <p:cNvSpPr/>
          <p:nvPr/>
        </p:nvSpPr>
        <p:spPr>
          <a:xfrm>
            <a:off x="777240" y="1737360"/>
            <a:ext cx="548640" cy="548640"/>
          </a:xfrm>
          <a:prstGeom prst="ellipse">
            <a:avLst/>
          </a:prstGeom>
          <a:solidFill>
            <a:schemeClr val="accent4"/>
          </a:solidFill>
          <a:ln w="12700">
            <a:solidFill>
              <a:schemeClr val="accent4"/>
            </a:solidFill>
            <a:prstDash val="solid"/>
          </a:ln>
        </p:spPr>
      </p:sp>
      <p:pic>
        <p:nvPicPr>
          <p:cNvPr id="11" name="Image 0" descr="icon"/>
          <p:cNvPicPr>
            <a:picLocks noChangeAspect="1"/>
          </p:cNvPicPr>
          <p:nvPr/>
        </p:nvPicPr>
        <p:blipFill>
          <a:blip r:embed="rId3"/>
          <a:stretch>
            <a:fillRect/>
          </a:stretch>
        </p:blipFill>
        <p:spPr>
          <a:xfrm>
            <a:off x="908914" y="1869034"/>
            <a:ext cx="285293" cy="285293"/>
          </a:xfrm>
          <a:prstGeom prst="rect">
            <a:avLst/>
          </a:prstGeom>
        </p:spPr>
      </p:pic>
      <p:sp>
        <p:nvSpPr>
          <p:cNvPr id="12" name="Text 9"/>
          <p:cNvSpPr txBox="1"/>
          <p:nvPr/>
        </p:nvSpPr>
        <p:spPr>
          <a:xfrm>
            <a:off x="1463040" y="1709928"/>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Scattered information</a:t>
            </a:r>
            <a:endParaRPr lang="en-US" sz="1600" dirty="0"/>
          </a:p>
        </p:txBody>
      </p:sp>
      <p:sp>
        <p:nvSpPr>
          <p:cNvPr id="13" name="Text 10"/>
          <p:cNvSpPr txBox="1"/>
          <p:nvPr/>
        </p:nvSpPr>
        <p:spPr>
          <a:xfrm>
            <a:off x="777240" y="2423160"/>
            <a:ext cx="3108960" cy="640080"/>
          </a:xfrm>
          <a:prstGeom prst="rect">
            <a:avLst/>
          </a:prstGeom>
          <a:noFill/>
          <a:ln/>
        </p:spPr>
        <p:txBody>
          <a:bodyPr wrap="square" lIns="0" tIns="0" rIns="0" bIns="0" rtlCol="0" anchor="t"/>
          <a:lstStyle/>
          <a:p>
            <a:pPr marL="0" indent="0">
              <a:buNone/>
            </a:pPr>
            <a:r>
              <a:rPr lang="en-US" sz="1400" dirty="0">
                <a:solidFill>
                  <a:srgbClr val="4F6558"/>
                </a:solidFill>
              </a:rPr>
              <a:t>Prices, alerts and schemes sit on different sites</a:t>
            </a:r>
            <a:endParaRPr lang="en-US" sz="1400" dirty="0"/>
          </a:p>
        </p:txBody>
      </p:sp>
      <p:sp>
        <p:nvSpPr>
          <p:cNvPr id="14" name="Unclear profit"/>
          <p:cNvSpPr/>
          <p:nvPr/>
        </p:nvSpPr>
        <p:spPr>
          <a:xfrm>
            <a:off x="548640" y="3429000"/>
            <a:ext cx="3566160" cy="1645920"/>
          </a:xfrm>
          <a:prstGeom prst="roundRect">
            <a:avLst>
              <a:gd name="adj" fmla="val 6667"/>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15" name="Shape 12"/>
          <p:cNvSpPr/>
          <p:nvPr/>
        </p:nvSpPr>
        <p:spPr>
          <a:xfrm>
            <a:off x="777240" y="3657600"/>
            <a:ext cx="548640" cy="548640"/>
          </a:xfrm>
          <a:prstGeom prst="ellipse">
            <a:avLst/>
          </a:prstGeom>
          <a:solidFill>
            <a:schemeClr val="accent4"/>
          </a:solidFill>
          <a:ln w="12700">
            <a:solidFill>
              <a:schemeClr val="accent4"/>
            </a:solidFill>
            <a:prstDash val="solid"/>
          </a:ln>
        </p:spPr>
      </p:sp>
      <p:pic>
        <p:nvPicPr>
          <p:cNvPr id="16" name="Image 1" descr="icon"/>
          <p:cNvPicPr>
            <a:picLocks noChangeAspect="1"/>
          </p:cNvPicPr>
          <p:nvPr/>
        </p:nvPicPr>
        <p:blipFill>
          <a:blip r:embed="rId4"/>
          <a:stretch>
            <a:fillRect/>
          </a:stretch>
        </p:blipFill>
        <p:spPr>
          <a:xfrm>
            <a:off x="908914" y="3789274"/>
            <a:ext cx="285293" cy="285293"/>
          </a:xfrm>
          <a:prstGeom prst="rect">
            <a:avLst/>
          </a:prstGeom>
        </p:spPr>
      </p:pic>
      <p:sp>
        <p:nvSpPr>
          <p:cNvPr id="17" name="Text 13"/>
          <p:cNvSpPr txBox="1"/>
          <p:nvPr/>
        </p:nvSpPr>
        <p:spPr>
          <a:xfrm>
            <a:off x="1463040" y="3630168"/>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Unclear profit</a:t>
            </a:r>
            <a:endParaRPr lang="en-US" sz="1600" dirty="0"/>
          </a:p>
        </p:txBody>
      </p:sp>
      <p:sp>
        <p:nvSpPr>
          <p:cNvPr id="18" name="Text 14"/>
          <p:cNvSpPr txBox="1"/>
          <p:nvPr/>
        </p:nvSpPr>
        <p:spPr>
          <a:xfrm>
            <a:off x="777240" y="4343400"/>
            <a:ext cx="3108960" cy="640080"/>
          </a:xfrm>
          <a:prstGeom prst="rect">
            <a:avLst/>
          </a:prstGeom>
          <a:noFill/>
          <a:ln/>
        </p:spPr>
        <p:txBody>
          <a:bodyPr wrap="square" lIns="0" tIns="0" rIns="0" bIns="0" rtlCol="0" anchor="t"/>
          <a:lstStyle/>
          <a:p>
            <a:pPr marL="0" indent="0">
              <a:buNone/>
            </a:pPr>
            <a:r>
              <a:rPr lang="en-US" sz="1400" dirty="0">
                <a:solidFill>
                  <a:srgbClr val="4F6558"/>
                </a:solidFill>
              </a:rPr>
              <a:t>Hard to see net profit after every cost</a:t>
            </a:r>
            <a:endParaRPr lang="en-US" sz="1400" dirty="0"/>
          </a:p>
        </p:txBody>
      </p:sp>
      <p:sp>
        <p:nvSpPr>
          <p:cNvPr id="19" name="Disaster readiness"/>
          <p:cNvSpPr/>
          <p:nvPr/>
        </p:nvSpPr>
        <p:spPr>
          <a:xfrm>
            <a:off x="8074152" y="1508760"/>
            <a:ext cx="3566160" cy="1645920"/>
          </a:xfrm>
          <a:prstGeom prst="roundRect">
            <a:avLst>
              <a:gd name="adj" fmla="val 6667"/>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20" name="Shape 16"/>
          <p:cNvSpPr/>
          <p:nvPr/>
        </p:nvSpPr>
        <p:spPr>
          <a:xfrm>
            <a:off x="8302752" y="1737360"/>
            <a:ext cx="548640" cy="548640"/>
          </a:xfrm>
          <a:prstGeom prst="ellipse">
            <a:avLst/>
          </a:prstGeom>
          <a:solidFill>
            <a:schemeClr val="accent4"/>
          </a:solidFill>
          <a:ln w="12700">
            <a:solidFill>
              <a:schemeClr val="accent4"/>
            </a:solidFill>
            <a:prstDash val="solid"/>
          </a:ln>
        </p:spPr>
      </p:sp>
      <p:pic>
        <p:nvPicPr>
          <p:cNvPr id="21" name="Image 2" descr="icon"/>
          <p:cNvPicPr>
            <a:picLocks noChangeAspect="1"/>
          </p:cNvPicPr>
          <p:nvPr/>
        </p:nvPicPr>
        <p:blipFill>
          <a:blip r:embed="rId5"/>
          <a:stretch>
            <a:fillRect/>
          </a:stretch>
        </p:blipFill>
        <p:spPr>
          <a:xfrm>
            <a:off x="8434426" y="1869034"/>
            <a:ext cx="285293" cy="285293"/>
          </a:xfrm>
          <a:prstGeom prst="rect">
            <a:avLst/>
          </a:prstGeom>
        </p:spPr>
      </p:pic>
      <p:sp>
        <p:nvSpPr>
          <p:cNvPr id="22" name="Text 17"/>
          <p:cNvSpPr txBox="1"/>
          <p:nvPr/>
        </p:nvSpPr>
        <p:spPr>
          <a:xfrm>
            <a:off x="8988552" y="1709928"/>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Disaster readiness</a:t>
            </a:r>
            <a:endParaRPr lang="en-US" sz="1600" dirty="0"/>
          </a:p>
        </p:txBody>
      </p:sp>
      <p:sp>
        <p:nvSpPr>
          <p:cNvPr id="23" name="Text 18"/>
          <p:cNvSpPr txBox="1"/>
          <p:nvPr/>
        </p:nvSpPr>
        <p:spPr>
          <a:xfrm>
            <a:off x="8302752" y="2423160"/>
            <a:ext cx="3108960" cy="640080"/>
          </a:xfrm>
          <a:prstGeom prst="rect">
            <a:avLst/>
          </a:prstGeom>
          <a:noFill/>
          <a:ln/>
        </p:spPr>
        <p:txBody>
          <a:bodyPr wrap="square" lIns="0" tIns="0" rIns="0" bIns="0" rtlCol="0" anchor="t"/>
          <a:lstStyle/>
          <a:p>
            <a:pPr marL="0" indent="0">
              <a:buNone/>
            </a:pPr>
            <a:r>
              <a:rPr lang="en-US" sz="1400" dirty="0">
                <a:solidFill>
                  <a:srgbClr val="4F6558"/>
                </a:solidFill>
              </a:rPr>
              <a:t>Preparedness steps are hard to navigate</a:t>
            </a:r>
            <a:endParaRPr lang="en-US" sz="1400" dirty="0"/>
          </a:p>
        </p:txBody>
      </p:sp>
      <p:sp>
        <p:nvSpPr>
          <p:cNvPr id="24" name="Scheme confusion"/>
          <p:cNvSpPr/>
          <p:nvPr/>
        </p:nvSpPr>
        <p:spPr>
          <a:xfrm>
            <a:off x="8074152" y="3429000"/>
            <a:ext cx="3566160" cy="1645920"/>
          </a:xfrm>
          <a:prstGeom prst="roundRect">
            <a:avLst>
              <a:gd name="adj" fmla="val 6667"/>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25" name="Shape 20"/>
          <p:cNvSpPr/>
          <p:nvPr/>
        </p:nvSpPr>
        <p:spPr>
          <a:xfrm>
            <a:off x="8302752" y="3657600"/>
            <a:ext cx="548640" cy="548640"/>
          </a:xfrm>
          <a:prstGeom prst="ellipse">
            <a:avLst/>
          </a:prstGeom>
          <a:solidFill>
            <a:schemeClr val="accent4"/>
          </a:solidFill>
          <a:ln w="12700">
            <a:solidFill>
              <a:schemeClr val="accent4"/>
            </a:solidFill>
            <a:prstDash val="solid"/>
          </a:ln>
        </p:spPr>
      </p:sp>
      <p:pic>
        <p:nvPicPr>
          <p:cNvPr id="26" name="Image 3" descr="icon"/>
          <p:cNvPicPr>
            <a:picLocks noChangeAspect="1"/>
          </p:cNvPicPr>
          <p:nvPr/>
        </p:nvPicPr>
        <p:blipFill>
          <a:blip r:embed="rId6"/>
          <a:stretch>
            <a:fillRect/>
          </a:stretch>
        </p:blipFill>
        <p:spPr>
          <a:xfrm>
            <a:off x="8434426" y="3789274"/>
            <a:ext cx="285293" cy="285293"/>
          </a:xfrm>
          <a:prstGeom prst="rect">
            <a:avLst/>
          </a:prstGeom>
        </p:spPr>
      </p:pic>
      <p:sp>
        <p:nvSpPr>
          <p:cNvPr id="27" name="Text 21"/>
          <p:cNvSpPr txBox="1"/>
          <p:nvPr/>
        </p:nvSpPr>
        <p:spPr>
          <a:xfrm>
            <a:off x="8988552" y="3630168"/>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Scheme confusion</a:t>
            </a:r>
            <a:endParaRPr lang="en-US" sz="1600" dirty="0"/>
          </a:p>
        </p:txBody>
      </p:sp>
      <p:sp>
        <p:nvSpPr>
          <p:cNvPr id="28" name="Text 22"/>
          <p:cNvSpPr txBox="1"/>
          <p:nvPr/>
        </p:nvSpPr>
        <p:spPr>
          <a:xfrm>
            <a:off x="8302752" y="4343400"/>
            <a:ext cx="3108960" cy="640080"/>
          </a:xfrm>
          <a:prstGeom prst="rect">
            <a:avLst/>
          </a:prstGeom>
          <a:noFill/>
          <a:ln/>
        </p:spPr>
        <p:txBody>
          <a:bodyPr wrap="square" lIns="0" tIns="0" rIns="0" bIns="0" rtlCol="0" anchor="t"/>
          <a:lstStyle/>
          <a:p>
            <a:pPr marL="0" indent="0">
              <a:buNone/>
            </a:pPr>
            <a:r>
              <a:rPr lang="en-US" sz="1400" dirty="0">
                <a:solidFill>
                  <a:srgbClr val="4F6558"/>
                </a:solidFill>
              </a:rPr>
              <a:t>Eligibility and documents feel complicated</a:t>
            </a:r>
            <a:endParaRPr lang="en-US" sz="1400" dirty="0"/>
          </a:p>
        </p:txBody>
      </p:sp>
      <p:sp>
        <p:nvSpPr>
          <p:cNvPr id="29" name="Language &amp; access barriers"/>
          <p:cNvSpPr/>
          <p:nvPr/>
        </p:nvSpPr>
        <p:spPr>
          <a:xfrm>
            <a:off x="4315968" y="5029200"/>
            <a:ext cx="3566160" cy="1371600"/>
          </a:xfrm>
          <a:prstGeom prst="roundRect">
            <a:avLst>
              <a:gd name="adj" fmla="val 8000"/>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30" name="Shape 24"/>
          <p:cNvSpPr/>
          <p:nvPr/>
        </p:nvSpPr>
        <p:spPr>
          <a:xfrm>
            <a:off x="4544568" y="5257800"/>
            <a:ext cx="548640" cy="548640"/>
          </a:xfrm>
          <a:prstGeom prst="ellipse">
            <a:avLst/>
          </a:prstGeom>
          <a:solidFill>
            <a:schemeClr val="accent4"/>
          </a:solidFill>
          <a:ln w="12700">
            <a:solidFill>
              <a:schemeClr val="accent4"/>
            </a:solidFill>
            <a:prstDash val="solid"/>
          </a:ln>
        </p:spPr>
      </p:sp>
      <p:pic>
        <p:nvPicPr>
          <p:cNvPr id="31" name="Image 4" descr="icon"/>
          <p:cNvPicPr>
            <a:picLocks noChangeAspect="1"/>
          </p:cNvPicPr>
          <p:nvPr/>
        </p:nvPicPr>
        <p:blipFill>
          <a:blip r:embed="rId7"/>
          <a:stretch>
            <a:fillRect/>
          </a:stretch>
        </p:blipFill>
        <p:spPr>
          <a:xfrm>
            <a:off x="4676242" y="5389474"/>
            <a:ext cx="285293" cy="285293"/>
          </a:xfrm>
          <a:prstGeom prst="rect">
            <a:avLst/>
          </a:prstGeom>
        </p:spPr>
      </p:pic>
      <p:sp>
        <p:nvSpPr>
          <p:cNvPr id="32" name="Text 25"/>
          <p:cNvSpPr txBox="1"/>
          <p:nvPr/>
        </p:nvSpPr>
        <p:spPr>
          <a:xfrm>
            <a:off x="5230368" y="5230368"/>
            <a:ext cx="2514600" cy="640080"/>
          </a:xfrm>
          <a:prstGeom prst="rect">
            <a:avLst/>
          </a:prstGeom>
          <a:noFill/>
          <a:ln/>
        </p:spPr>
        <p:txBody>
          <a:bodyPr wrap="square" lIns="0" tIns="0" rIns="0" bIns="0" rtlCol="0" anchor="ctr"/>
          <a:lstStyle/>
          <a:p>
            <a:pPr marL="0" indent="0">
              <a:buNone/>
            </a:pPr>
            <a:r>
              <a:rPr lang="en-US" sz="1600" b="1" dirty="0">
                <a:solidFill>
                  <a:schemeClr val="tx2"/>
                </a:solidFill>
              </a:rPr>
              <a:t>Language &amp; access barriers</a:t>
            </a:r>
            <a:endParaRPr lang="en-US" sz="1600" dirty="0"/>
          </a:p>
        </p:txBody>
      </p:sp>
      <p:sp>
        <p:nvSpPr>
          <p:cNvPr id="33" name="Text 26"/>
          <p:cNvSpPr txBox="1"/>
          <p:nvPr/>
        </p:nvSpPr>
        <p:spPr>
          <a:xfrm>
            <a:off x="4544568" y="5852160"/>
            <a:ext cx="3108960" cy="502920"/>
          </a:xfrm>
          <a:prstGeom prst="rect">
            <a:avLst/>
          </a:prstGeom>
          <a:noFill/>
          <a:ln/>
        </p:spPr>
        <p:txBody>
          <a:bodyPr wrap="square" lIns="0" tIns="0" rIns="0" bIns="0" rtlCol="0" anchor="t"/>
          <a:lstStyle/>
          <a:p>
            <a:pPr marL="0" indent="0">
              <a:buNone/>
            </a:pPr>
            <a:r>
              <a:rPr lang="en-US" sz="1400" dirty="0">
                <a:solidFill>
                  <a:srgbClr val="4F6558"/>
                </a:solidFill>
              </a:rPr>
              <a:t>Digital tools are not always in the farmer’s language</a:t>
            </a:r>
            <a:endParaRPr lang="en-US" sz="1400" dirty="0"/>
          </a:p>
        </p:txBody>
      </p:sp>
      <p:sp>
        <p:nvSpPr>
          <p:cNvPr id="34" name="Shape 27"/>
          <p:cNvSpPr/>
          <p:nvPr/>
        </p:nvSpPr>
        <p:spPr>
          <a:xfrm>
            <a:off x="5093208" y="2194560"/>
            <a:ext cx="2011680" cy="2011680"/>
          </a:xfrm>
          <a:prstGeom prst="ellipse">
            <a:avLst/>
          </a:prstGeom>
          <a:solidFill>
            <a:schemeClr val="tx2"/>
          </a:solidFill>
          <a:ln w="38100">
            <a:solidFill>
              <a:schemeClr val="accent2"/>
            </a:solidFill>
            <a:prstDash val="solid"/>
          </a:ln>
          <a:effectLst>
            <a:outerShdw blurRad="127000" dist="25400" dir="5400000" algn="bl" rotWithShape="0">
              <a:srgbClr val="0E2E20">
                <a:alpha val="18000"/>
              </a:srgbClr>
            </a:outerShdw>
          </a:effectLst>
        </p:spPr>
      </p:sp>
      <p:pic>
        <p:nvPicPr>
          <p:cNvPr id="35" name="Image 5" descr="farmer"/>
          <p:cNvPicPr>
            <a:picLocks noChangeAspect="1"/>
          </p:cNvPicPr>
          <p:nvPr/>
        </p:nvPicPr>
        <p:blipFill>
          <a:blip r:embed="rId8"/>
          <a:stretch>
            <a:fillRect/>
          </a:stretch>
        </p:blipFill>
        <p:spPr>
          <a:xfrm>
            <a:off x="5824728" y="2514600"/>
            <a:ext cx="548640" cy="548640"/>
          </a:xfrm>
          <a:prstGeom prst="rect">
            <a:avLst/>
          </a:prstGeom>
        </p:spPr>
      </p:pic>
      <p:sp>
        <p:nvSpPr>
          <p:cNvPr id="36" name="Text 28"/>
          <p:cNvSpPr txBox="1"/>
          <p:nvPr/>
        </p:nvSpPr>
        <p:spPr>
          <a:xfrm>
            <a:off x="5093208" y="3108960"/>
            <a:ext cx="2011680" cy="320040"/>
          </a:xfrm>
          <a:prstGeom prst="rect">
            <a:avLst/>
          </a:prstGeom>
          <a:noFill/>
          <a:ln/>
        </p:spPr>
        <p:txBody>
          <a:bodyPr wrap="square" lIns="0" tIns="0" rIns="0" bIns="0" rtlCol="0" anchor="ctr"/>
          <a:lstStyle/>
          <a:p>
            <a:pPr marL="0" indent="0" algn="ctr">
              <a:buNone/>
            </a:pPr>
            <a:r>
              <a:rPr lang="en-US" sz="1400" b="1" dirty="0">
                <a:solidFill>
                  <a:schemeClr val="bg1"/>
                </a:solidFill>
              </a:rPr>
              <a:t>THE FARMER</a:t>
            </a:r>
            <a:endParaRPr lang="en-US" sz="1400" dirty="0"/>
          </a:p>
        </p:txBody>
      </p:sp>
      <p:sp>
        <p:nvSpPr>
          <p:cNvPr id="37" name="Text 29"/>
          <p:cNvSpPr txBox="1"/>
          <p:nvPr/>
        </p:nvSpPr>
        <p:spPr>
          <a:xfrm>
            <a:off x="5184648" y="3401568"/>
            <a:ext cx="1828800" cy="548640"/>
          </a:xfrm>
          <a:prstGeom prst="rect">
            <a:avLst/>
          </a:prstGeom>
          <a:noFill/>
          <a:ln/>
        </p:spPr>
        <p:txBody>
          <a:bodyPr wrap="square" lIns="0" tIns="0" rIns="0" bIns="0" rtlCol="0" anchor="t"/>
          <a:lstStyle/>
          <a:p>
            <a:pPr marL="0" indent="0" algn="ctr">
              <a:buNone/>
            </a:pPr>
            <a:r>
              <a:rPr lang="en-US" sz="1200" dirty="0">
                <a:solidFill>
                  <a:srgbClr val="CFE7B4"/>
                </a:solidFill>
              </a:rPr>
              <a:t>needs one simple place to start</a:t>
            </a:r>
            <a:endParaRPr lang="en-US" sz="1200" dirty="0"/>
          </a:p>
        </p:txBody>
      </p:sp>
      <p:sp>
        <p:nvSpPr>
          <p:cNvPr id="38"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OUR SOLUTION</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One platform. Six farmer-support tools</a:t>
            </a:r>
            <a:endParaRPr lang="en-US" sz="3400" dirty="0"/>
          </a:p>
        </p:txBody>
      </p:sp>
      <p:sp>
        <p:nvSpPr>
          <p:cNvPr id="4" name="menu card"/>
          <p:cNvSpPr/>
          <p:nvPr/>
        </p:nvSpPr>
        <p:spPr>
          <a:xfrm>
            <a:off x="548640" y="1463040"/>
            <a:ext cx="2651760" cy="4709160"/>
          </a:xfrm>
          <a:prstGeom prst="roundRect">
            <a:avLst>
              <a:gd name="adj" fmla="val 413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pic>
        <p:nvPicPr>
          <p:cNvPr id="5" name="Image 0" descr="Actual navigation menu of Ulavar Nanban"/>
          <p:cNvPicPr>
            <a:picLocks noChangeAspect="1"/>
          </p:cNvPicPr>
          <p:nvPr/>
        </p:nvPicPr>
        <p:blipFill>
          <a:blip r:embed="rId3"/>
          <a:stretch>
            <a:fillRect/>
          </a:stretch>
        </p:blipFill>
        <p:spPr>
          <a:xfrm>
            <a:off x="868680" y="1572768"/>
            <a:ext cx="2194560" cy="4148507"/>
          </a:xfrm>
          <a:prstGeom prst="rect">
            <a:avLst/>
          </a:prstGeom>
        </p:spPr>
      </p:pic>
      <p:sp>
        <p:nvSpPr>
          <p:cNvPr id="6" name="Text 3"/>
          <p:cNvSpPr txBox="1"/>
          <p:nvPr/>
        </p:nvSpPr>
        <p:spPr>
          <a:xfrm>
            <a:off x="548640" y="5833872"/>
            <a:ext cx="2651760" cy="274320"/>
          </a:xfrm>
          <a:prstGeom prst="rect">
            <a:avLst/>
          </a:prstGeom>
          <a:noFill/>
          <a:ln/>
        </p:spPr>
        <p:txBody>
          <a:bodyPr wrap="square" lIns="0" tIns="0" rIns="0" bIns="0" rtlCol="0" anchor="ctr"/>
          <a:lstStyle/>
          <a:p>
            <a:pPr marL="0" indent="0" algn="ctr">
              <a:buNone/>
            </a:pPr>
            <a:r>
              <a:rPr lang="en-US" sz="1100" i="1" dirty="0">
                <a:solidFill>
                  <a:srgbClr val="4F6558"/>
                </a:solidFill>
              </a:rPr>
              <a:t>Actual navigation menu</a:t>
            </a:r>
            <a:endParaRPr lang="en-US" sz="1100" dirty="0"/>
          </a:p>
        </p:txBody>
      </p:sp>
      <p:sp>
        <p:nvSpPr>
          <p:cNvPr id="7" name="Personalized dashboard"/>
          <p:cNvSpPr/>
          <p:nvPr/>
        </p:nvSpPr>
        <p:spPr>
          <a:xfrm>
            <a:off x="3566160" y="1463040"/>
            <a:ext cx="2560320" cy="2240280"/>
          </a:xfrm>
          <a:prstGeom prst="roundRect">
            <a:avLst>
              <a:gd name="adj" fmla="val 489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8" name="Shape 5"/>
          <p:cNvSpPr/>
          <p:nvPr/>
        </p:nvSpPr>
        <p:spPr>
          <a:xfrm>
            <a:off x="3794760" y="1691640"/>
            <a:ext cx="640080" cy="640080"/>
          </a:xfrm>
          <a:prstGeom prst="ellipse">
            <a:avLst/>
          </a:prstGeom>
          <a:solidFill>
            <a:schemeClr val="accent4"/>
          </a:solidFill>
          <a:ln w="12700">
            <a:solidFill>
              <a:schemeClr val="accent4"/>
            </a:solidFill>
            <a:prstDash val="solid"/>
          </a:ln>
        </p:spPr>
      </p:sp>
      <p:pic>
        <p:nvPicPr>
          <p:cNvPr id="9" name="Image 1" descr="icon"/>
          <p:cNvPicPr>
            <a:picLocks noChangeAspect="1"/>
          </p:cNvPicPr>
          <p:nvPr/>
        </p:nvPicPr>
        <p:blipFill>
          <a:blip r:embed="rId4"/>
          <a:stretch>
            <a:fillRect/>
          </a:stretch>
        </p:blipFill>
        <p:spPr>
          <a:xfrm>
            <a:off x="3948379" y="1845259"/>
            <a:ext cx="332842" cy="332842"/>
          </a:xfrm>
          <a:prstGeom prst="rect">
            <a:avLst/>
          </a:prstGeom>
        </p:spPr>
      </p:pic>
      <p:sp>
        <p:nvSpPr>
          <p:cNvPr id="10" name="Text 6"/>
          <p:cNvSpPr txBox="1"/>
          <p:nvPr/>
        </p:nvSpPr>
        <p:spPr>
          <a:xfrm>
            <a:off x="3794760" y="2468880"/>
            <a:ext cx="2148840" cy="365760"/>
          </a:xfrm>
          <a:prstGeom prst="rect">
            <a:avLst/>
          </a:prstGeom>
          <a:noFill/>
          <a:ln/>
        </p:spPr>
        <p:txBody>
          <a:bodyPr wrap="square" lIns="0" tIns="0" rIns="0" bIns="0" rtlCol="0" anchor="ctr"/>
          <a:lstStyle/>
          <a:p>
            <a:pPr marL="0" indent="0">
              <a:buNone/>
            </a:pPr>
            <a:r>
              <a:rPr lang="en-US" sz="1700" b="1" dirty="0">
                <a:solidFill>
                  <a:schemeClr val="tx2"/>
                </a:solidFill>
              </a:rPr>
              <a:t>Personalized dashboard</a:t>
            </a:r>
            <a:endParaRPr lang="en-US" sz="1700" dirty="0"/>
          </a:p>
        </p:txBody>
      </p:sp>
      <p:sp>
        <p:nvSpPr>
          <p:cNvPr id="11" name="Text 7"/>
          <p:cNvSpPr txBox="1"/>
          <p:nvPr/>
        </p:nvSpPr>
        <p:spPr>
          <a:xfrm>
            <a:off x="3794760" y="2834640"/>
            <a:ext cx="2148840" cy="731520"/>
          </a:xfrm>
          <a:prstGeom prst="rect">
            <a:avLst/>
          </a:prstGeom>
          <a:noFill/>
          <a:ln/>
        </p:spPr>
        <p:txBody>
          <a:bodyPr wrap="square" lIns="0" tIns="0" rIns="0" bIns="0" rtlCol="0" anchor="t"/>
          <a:lstStyle/>
          <a:p>
            <a:pPr marL="0" indent="0">
              <a:buNone/>
            </a:pPr>
            <a:r>
              <a:rPr lang="en-US" sz="1400" dirty="0">
                <a:solidFill>
                  <a:srgbClr val="4F6558"/>
                </a:solidFill>
              </a:rPr>
              <a:t>Crop- and district-aware home with an action plan</a:t>
            </a:r>
            <a:endParaRPr lang="en-US" sz="1400" dirty="0"/>
          </a:p>
        </p:txBody>
      </p:sp>
      <p:sp>
        <p:nvSpPr>
          <p:cNvPr id="12" name="Profit planning"/>
          <p:cNvSpPr/>
          <p:nvPr/>
        </p:nvSpPr>
        <p:spPr>
          <a:xfrm>
            <a:off x="6309360" y="1463040"/>
            <a:ext cx="2560320" cy="2240280"/>
          </a:xfrm>
          <a:prstGeom prst="roundRect">
            <a:avLst>
              <a:gd name="adj" fmla="val 489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13" name="Shape 9"/>
          <p:cNvSpPr/>
          <p:nvPr/>
        </p:nvSpPr>
        <p:spPr>
          <a:xfrm>
            <a:off x="6537960" y="1691640"/>
            <a:ext cx="640080" cy="640080"/>
          </a:xfrm>
          <a:prstGeom prst="ellipse">
            <a:avLst/>
          </a:prstGeom>
          <a:solidFill>
            <a:schemeClr val="accent1"/>
          </a:solidFill>
          <a:ln w="12700">
            <a:solidFill>
              <a:schemeClr val="accent1"/>
            </a:solidFill>
            <a:prstDash val="solid"/>
          </a:ln>
        </p:spPr>
      </p:sp>
      <p:pic>
        <p:nvPicPr>
          <p:cNvPr id="14" name="Image 2" descr="icon"/>
          <p:cNvPicPr>
            <a:picLocks noChangeAspect="1"/>
          </p:cNvPicPr>
          <p:nvPr/>
        </p:nvPicPr>
        <p:blipFill>
          <a:blip r:embed="rId5"/>
          <a:stretch>
            <a:fillRect/>
          </a:stretch>
        </p:blipFill>
        <p:spPr>
          <a:xfrm>
            <a:off x="6691579" y="1845259"/>
            <a:ext cx="332842" cy="332842"/>
          </a:xfrm>
          <a:prstGeom prst="rect">
            <a:avLst/>
          </a:prstGeom>
        </p:spPr>
      </p:pic>
      <p:sp>
        <p:nvSpPr>
          <p:cNvPr id="15" name="Text 10"/>
          <p:cNvSpPr txBox="1"/>
          <p:nvPr/>
        </p:nvSpPr>
        <p:spPr>
          <a:xfrm>
            <a:off x="6537960" y="2468880"/>
            <a:ext cx="2148840" cy="365760"/>
          </a:xfrm>
          <a:prstGeom prst="rect">
            <a:avLst/>
          </a:prstGeom>
          <a:noFill/>
          <a:ln/>
        </p:spPr>
        <p:txBody>
          <a:bodyPr wrap="square" lIns="0" tIns="0" rIns="0" bIns="0" rtlCol="0" anchor="ctr"/>
          <a:lstStyle/>
          <a:p>
            <a:pPr marL="0" indent="0">
              <a:buNone/>
            </a:pPr>
            <a:r>
              <a:rPr lang="en-US" sz="1700" b="1" dirty="0">
                <a:solidFill>
                  <a:schemeClr val="tx2"/>
                </a:solidFill>
              </a:rPr>
              <a:t>Profit planning</a:t>
            </a:r>
            <a:endParaRPr lang="en-US" sz="1700" dirty="0"/>
          </a:p>
        </p:txBody>
      </p:sp>
      <p:sp>
        <p:nvSpPr>
          <p:cNvPr id="16" name="Text 11"/>
          <p:cNvSpPr txBox="1"/>
          <p:nvPr/>
        </p:nvSpPr>
        <p:spPr>
          <a:xfrm>
            <a:off x="6537960" y="2834640"/>
            <a:ext cx="2148840" cy="731520"/>
          </a:xfrm>
          <a:prstGeom prst="rect">
            <a:avLst/>
          </a:prstGeom>
          <a:noFill/>
          <a:ln/>
        </p:spPr>
        <p:txBody>
          <a:bodyPr wrap="square" lIns="0" tIns="0" rIns="0" bIns="0" rtlCol="0" anchor="t"/>
          <a:lstStyle/>
          <a:p>
            <a:pPr marL="0" indent="0">
              <a:buNone/>
            </a:pPr>
            <a:r>
              <a:rPr lang="en-US" sz="1400" dirty="0">
                <a:solidFill>
                  <a:srgbClr val="4F6558"/>
                </a:solidFill>
              </a:rPr>
              <a:t>Net profit and margin from your own numbers</a:t>
            </a:r>
            <a:endParaRPr lang="en-US" sz="1400" dirty="0"/>
          </a:p>
        </p:txBody>
      </p:sp>
      <p:sp>
        <p:nvSpPr>
          <p:cNvPr id="17" name="Disaster support"/>
          <p:cNvSpPr/>
          <p:nvPr/>
        </p:nvSpPr>
        <p:spPr>
          <a:xfrm>
            <a:off x="9052560" y="1463040"/>
            <a:ext cx="2560320" cy="2240280"/>
          </a:xfrm>
          <a:prstGeom prst="roundRect">
            <a:avLst>
              <a:gd name="adj" fmla="val 489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18" name="Shape 13"/>
          <p:cNvSpPr/>
          <p:nvPr/>
        </p:nvSpPr>
        <p:spPr>
          <a:xfrm>
            <a:off x="9281160" y="1691640"/>
            <a:ext cx="640080" cy="640080"/>
          </a:xfrm>
          <a:prstGeom prst="ellipse">
            <a:avLst/>
          </a:prstGeom>
          <a:solidFill>
            <a:schemeClr val="accent4"/>
          </a:solidFill>
          <a:ln w="12700">
            <a:solidFill>
              <a:schemeClr val="accent4"/>
            </a:solidFill>
            <a:prstDash val="solid"/>
          </a:ln>
        </p:spPr>
      </p:sp>
      <p:pic>
        <p:nvPicPr>
          <p:cNvPr id="19" name="Image 3" descr="icon"/>
          <p:cNvPicPr>
            <a:picLocks noChangeAspect="1"/>
          </p:cNvPicPr>
          <p:nvPr/>
        </p:nvPicPr>
        <p:blipFill>
          <a:blip r:embed="rId6"/>
          <a:stretch>
            <a:fillRect/>
          </a:stretch>
        </p:blipFill>
        <p:spPr>
          <a:xfrm>
            <a:off x="9434779" y="1845259"/>
            <a:ext cx="332842" cy="332842"/>
          </a:xfrm>
          <a:prstGeom prst="rect">
            <a:avLst/>
          </a:prstGeom>
        </p:spPr>
      </p:pic>
      <p:sp>
        <p:nvSpPr>
          <p:cNvPr id="20" name="Text 14"/>
          <p:cNvSpPr txBox="1"/>
          <p:nvPr/>
        </p:nvSpPr>
        <p:spPr>
          <a:xfrm>
            <a:off x="9281160" y="2468880"/>
            <a:ext cx="2148840" cy="365760"/>
          </a:xfrm>
          <a:prstGeom prst="rect">
            <a:avLst/>
          </a:prstGeom>
          <a:noFill/>
          <a:ln/>
        </p:spPr>
        <p:txBody>
          <a:bodyPr wrap="square" lIns="0" tIns="0" rIns="0" bIns="0" rtlCol="0" anchor="ctr"/>
          <a:lstStyle/>
          <a:p>
            <a:pPr marL="0" indent="0">
              <a:buNone/>
            </a:pPr>
            <a:r>
              <a:rPr lang="en-US" sz="1700" b="1" dirty="0">
                <a:solidFill>
                  <a:schemeClr val="tx2"/>
                </a:solidFill>
              </a:rPr>
              <a:t>Disaster support</a:t>
            </a:r>
            <a:endParaRPr lang="en-US" sz="1700" dirty="0"/>
          </a:p>
        </p:txBody>
      </p:sp>
      <p:sp>
        <p:nvSpPr>
          <p:cNvPr id="21" name="Text 15"/>
          <p:cNvSpPr txBox="1"/>
          <p:nvPr/>
        </p:nvSpPr>
        <p:spPr>
          <a:xfrm>
            <a:off x="9281160" y="2834640"/>
            <a:ext cx="2148840" cy="731520"/>
          </a:xfrm>
          <a:prstGeom prst="rect">
            <a:avLst/>
          </a:prstGeom>
          <a:noFill/>
          <a:ln/>
        </p:spPr>
        <p:txBody>
          <a:bodyPr wrap="square" lIns="0" tIns="0" rIns="0" bIns="0" rtlCol="0" anchor="t"/>
          <a:lstStyle/>
          <a:p>
            <a:pPr marL="0" indent="0">
              <a:buNone/>
            </a:pPr>
            <a:r>
              <a:rPr lang="en-US" sz="1400" dirty="0">
                <a:solidFill>
                  <a:srgbClr val="4F6558"/>
                </a:solidFill>
              </a:rPr>
              <a:t>Checklist, damage steps and official links</a:t>
            </a:r>
            <a:endParaRPr lang="en-US" sz="1400" dirty="0"/>
          </a:p>
        </p:txBody>
      </p:sp>
      <p:sp>
        <p:nvSpPr>
          <p:cNvPr id="22" name="Scheme guidance"/>
          <p:cNvSpPr/>
          <p:nvPr/>
        </p:nvSpPr>
        <p:spPr>
          <a:xfrm>
            <a:off x="3566160" y="3886200"/>
            <a:ext cx="2560320" cy="2240280"/>
          </a:xfrm>
          <a:prstGeom prst="roundRect">
            <a:avLst>
              <a:gd name="adj" fmla="val 489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23" name="Shape 17"/>
          <p:cNvSpPr/>
          <p:nvPr/>
        </p:nvSpPr>
        <p:spPr>
          <a:xfrm>
            <a:off x="3794760" y="4114800"/>
            <a:ext cx="640080" cy="640080"/>
          </a:xfrm>
          <a:prstGeom prst="ellipse">
            <a:avLst/>
          </a:prstGeom>
          <a:solidFill>
            <a:schemeClr val="accent1"/>
          </a:solidFill>
          <a:ln w="12700">
            <a:solidFill>
              <a:schemeClr val="accent1"/>
            </a:solidFill>
            <a:prstDash val="solid"/>
          </a:ln>
        </p:spPr>
      </p:sp>
      <p:pic>
        <p:nvPicPr>
          <p:cNvPr id="24" name="Image 4" descr="icon"/>
          <p:cNvPicPr>
            <a:picLocks noChangeAspect="1"/>
          </p:cNvPicPr>
          <p:nvPr/>
        </p:nvPicPr>
        <p:blipFill>
          <a:blip r:embed="rId7"/>
          <a:stretch>
            <a:fillRect/>
          </a:stretch>
        </p:blipFill>
        <p:spPr>
          <a:xfrm>
            <a:off x="3948379" y="4268419"/>
            <a:ext cx="332842" cy="332842"/>
          </a:xfrm>
          <a:prstGeom prst="rect">
            <a:avLst/>
          </a:prstGeom>
        </p:spPr>
      </p:pic>
      <p:sp>
        <p:nvSpPr>
          <p:cNvPr id="25" name="Text 18"/>
          <p:cNvSpPr txBox="1"/>
          <p:nvPr/>
        </p:nvSpPr>
        <p:spPr>
          <a:xfrm>
            <a:off x="3794760" y="4892040"/>
            <a:ext cx="2148840" cy="365760"/>
          </a:xfrm>
          <a:prstGeom prst="rect">
            <a:avLst/>
          </a:prstGeom>
          <a:noFill/>
          <a:ln/>
        </p:spPr>
        <p:txBody>
          <a:bodyPr wrap="square" lIns="0" tIns="0" rIns="0" bIns="0" rtlCol="0" anchor="ctr"/>
          <a:lstStyle/>
          <a:p>
            <a:pPr marL="0" indent="0">
              <a:buNone/>
            </a:pPr>
            <a:r>
              <a:rPr lang="en-US" sz="1700" b="1" dirty="0">
                <a:solidFill>
                  <a:schemeClr val="tx2"/>
                </a:solidFill>
              </a:rPr>
              <a:t>Scheme guidance</a:t>
            </a:r>
            <a:endParaRPr lang="en-US" sz="1700" dirty="0"/>
          </a:p>
        </p:txBody>
      </p:sp>
      <p:sp>
        <p:nvSpPr>
          <p:cNvPr id="26" name="Text 19"/>
          <p:cNvSpPr txBox="1"/>
          <p:nvPr/>
        </p:nvSpPr>
        <p:spPr>
          <a:xfrm>
            <a:off x="3794760" y="5257800"/>
            <a:ext cx="2148840" cy="731520"/>
          </a:xfrm>
          <a:prstGeom prst="rect">
            <a:avLst/>
          </a:prstGeom>
          <a:noFill/>
          <a:ln/>
        </p:spPr>
        <p:txBody>
          <a:bodyPr wrap="square" lIns="0" tIns="0" rIns="0" bIns="0" rtlCol="0" anchor="t"/>
          <a:lstStyle/>
          <a:p>
            <a:pPr marL="0" indent="0">
              <a:buNone/>
            </a:pPr>
            <a:r>
              <a:rPr lang="en-US" sz="1400" dirty="0">
                <a:solidFill>
                  <a:srgbClr val="4F6558"/>
                </a:solidFill>
              </a:rPr>
              <a:t>Searchable official resources and documents</a:t>
            </a:r>
            <a:endParaRPr lang="en-US" sz="1400" dirty="0"/>
          </a:p>
        </p:txBody>
      </p:sp>
      <p:sp>
        <p:nvSpPr>
          <p:cNvPr id="27" name="Grievance drafting"/>
          <p:cNvSpPr/>
          <p:nvPr/>
        </p:nvSpPr>
        <p:spPr>
          <a:xfrm>
            <a:off x="6309360" y="3886200"/>
            <a:ext cx="2560320" cy="2240280"/>
          </a:xfrm>
          <a:prstGeom prst="roundRect">
            <a:avLst>
              <a:gd name="adj" fmla="val 489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28" name="Shape 21"/>
          <p:cNvSpPr/>
          <p:nvPr/>
        </p:nvSpPr>
        <p:spPr>
          <a:xfrm>
            <a:off x="6537960" y="4114800"/>
            <a:ext cx="640080" cy="640080"/>
          </a:xfrm>
          <a:prstGeom prst="ellipse">
            <a:avLst/>
          </a:prstGeom>
          <a:solidFill>
            <a:schemeClr val="accent4"/>
          </a:solidFill>
          <a:ln w="12700">
            <a:solidFill>
              <a:schemeClr val="accent4"/>
            </a:solidFill>
            <a:prstDash val="solid"/>
          </a:ln>
        </p:spPr>
      </p:sp>
      <p:pic>
        <p:nvPicPr>
          <p:cNvPr id="29" name="Image 5" descr="icon"/>
          <p:cNvPicPr>
            <a:picLocks noChangeAspect="1"/>
          </p:cNvPicPr>
          <p:nvPr/>
        </p:nvPicPr>
        <p:blipFill>
          <a:blip r:embed="rId8"/>
          <a:stretch>
            <a:fillRect/>
          </a:stretch>
        </p:blipFill>
        <p:spPr>
          <a:xfrm>
            <a:off x="6691579" y="4268419"/>
            <a:ext cx="332842" cy="332842"/>
          </a:xfrm>
          <a:prstGeom prst="rect">
            <a:avLst/>
          </a:prstGeom>
        </p:spPr>
      </p:pic>
      <p:sp>
        <p:nvSpPr>
          <p:cNvPr id="30" name="Text 22"/>
          <p:cNvSpPr txBox="1"/>
          <p:nvPr/>
        </p:nvSpPr>
        <p:spPr>
          <a:xfrm>
            <a:off x="6537960" y="4892040"/>
            <a:ext cx="2148840" cy="365760"/>
          </a:xfrm>
          <a:prstGeom prst="rect">
            <a:avLst/>
          </a:prstGeom>
          <a:noFill/>
          <a:ln/>
        </p:spPr>
        <p:txBody>
          <a:bodyPr wrap="square" lIns="0" tIns="0" rIns="0" bIns="0" rtlCol="0" anchor="ctr"/>
          <a:lstStyle/>
          <a:p>
            <a:pPr marL="0" indent="0">
              <a:buNone/>
            </a:pPr>
            <a:r>
              <a:rPr lang="en-US" sz="1700" b="1" dirty="0">
                <a:solidFill>
                  <a:schemeClr val="tx2"/>
                </a:solidFill>
              </a:rPr>
              <a:t>Grievance drafting</a:t>
            </a:r>
            <a:endParaRPr lang="en-US" sz="1700" dirty="0"/>
          </a:p>
        </p:txBody>
      </p:sp>
      <p:sp>
        <p:nvSpPr>
          <p:cNvPr id="31" name="Text 23"/>
          <p:cNvSpPr txBox="1"/>
          <p:nvPr/>
        </p:nvSpPr>
        <p:spPr>
          <a:xfrm>
            <a:off x="6537960" y="5257800"/>
            <a:ext cx="2148840" cy="731520"/>
          </a:xfrm>
          <a:prstGeom prst="rect">
            <a:avLst/>
          </a:prstGeom>
          <a:noFill/>
          <a:ln/>
        </p:spPr>
        <p:txBody>
          <a:bodyPr wrap="square" lIns="0" tIns="0" rIns="0" bIns="0" rtlCol="0" anchor="t"/>
          <a:lstStyle/>
          <a:p>
            <a:pPr marL="0" indent="0">
              <a:buNone/>
            </a:pPr>
            <a:r>
              <a:rPr lang="en-US" sz="1400" dirty="0">
                <a:solidFill>
                  <a:srgbClr val="4F6558"/>
                </a:solidFill>
              </a:rPr>
              <a:t>Editable complaint draft that you submit</a:t>
            </a:r>
            <a:endParaRPr lang="en-US" sz="1400" dirty="0"/>
          </a:p>
        </p:txBody>
      </p:sp>
      <p:sp>
        <p:nvSpPr>
          <p:cNvPr id="32" name="Multilingual help"/>
          <p:cNvSpPr/>
          <p:nvPr/>
        </p:nvSpPr>
        <p:spPr>
          <a:xfrm>
            <a:off x="9052560" y="3886200"/>
            <a:ext cx="2560320" cy="2240280"/>
          </a:xfrm>
          <a:prstGeom prst="roundRect">
            <a:avLst>
              <a:gd name="adj" fmla="val 4898"/>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33" name="Shape 25"/>
          <p:cNvSpPr/>
          <p:nvPr/>
        </p:nvSpPr>
        <p:spPr>
          <a:xfrm>
            <a:off x="9281160" y="4114800"/>
            <a:ext cx="640080" cy="640080"/>
          </a:xfrm>
          <a:prstGeom prst="ellipse">
            <a:avLst/>
          </a:prstGeom>
          <a:solidFill>
            <a:schemeClr val="accent1"/>
          </a:solidFill>
          <a:ln w="12700">
            <a:solidFill>
              <a:schemeClr val="accent1"/>
            </a:solidFill>
            <a:prstDash val="solid"/>
          </a:ln>
        </p:spPr>
      </p:sp>
      <p:pic>
        <p:nvPicPr>
          <p:cNvPr id="34" name="Image 6" descr="icon"/>
          <p:cNvPicPr>
            <a:picLocks noChangeAspect="1"/>
          </p:cNvPicPr>
          <p:nvPr/>
        </p:nvPicPr>
        <p:blipFill>
          <a:blip r:embed="rId9"/>
          <a:stretch>
            <a:fillRect/>
          </a:stretch>
        </p:blipFill>
        <p:spPr>
          <a:xfrm>
            <a:off x="9434779" y="4268419"/>
            <a:ext cx="332842" cy="332842"/>
          </a:xfrm>
          <a:prstGeom prst="rect">
            <a:avLst/>
          </a:prstGeom>
        </p:spPr>
      </p:pic>
      <p:sp>
        <p:nvSpPr>
          <p:cNvPr id="35" name="Text 26"/>
          <p:cNvSpPr txBox="1"/>
          <p:nvPr/>
        </p:nvSpPr>
        <p:spPr>
          <a:xfrm>
            <a:off x="9281160" y="4892040"/>
            <a:ext cx="2148840" cy="365760"/>
          </a:xfrm>
          <a:prstGeom prst="rect">
            <a:avLst/>
          </a:prstGeom>
          <a:noFill/>
          <a:ln/>
        </p:spPr>
        <p:txBody>
          <a:bodyPr wrap="square" lIns="0" tIns="0" rIns="0" bIns="0" rtlCol="0" anchor="ctr"/>
          <a:lstStyle/>
          <a:p>
            <a:pPr marL="0" indent="0">
              <a:buNone/>
            </a:pPr>
            <a:r>
              <a:rPr lang="en-US" sz="1700" b="1" dirty="0">
                <a:solidFill>
                  <a:schemeClr val="tx2"/>
                </a:solidFill>
              </a:rPr>
              <a:t>Multilingual help</a:t>
            </a:r>
            <a:endParaRPr lang="en-US" sz="1700" dirty="0"/>
          </a:p>
        </p:txBody>
      </p:sp>
      <p:sp>
        <p:nvSpPr>
          <p:cNvPr id="36" name="Text 27"/>
          <p:cNvSpPr txBox="1"/>
          <p:nvPr/>
        </p:nvSpPr>
        <p:spPr>
          <a:xfrm>
            <a:off x="9281160" y="5257800"/>
            <a:ext cx="2148840" cy="731520"/>
          </a:xfrm>
          <a:prstGeom prst="rect">
            <a:avLst/>
          </a:prstGeom>
          <a:noFill/>
          <a:ln/>
        </p:spPr>
        <p:txBody>
          <a:bodyPr wrap="square" lIns="0" tIns="0" rIns="0" bIns="0" rtlCol="0" anchor="t"/>
          <a:lstStyle/>
          <a:p>
            <a:pPr marL="0" indent="0">
              <a:buNone/>
            </a:pPr>
            <a:r>
              <a:rPr lang="en-US" sz="1400" dirty="0">
                <a:solidFill>
                  <a:srgbClr val="4F6558"/>
                </a:solidFill>
              </a:rPr>
              <a:t>English, Tamil and Hindi guided assistant</a:t>
            </a:r>
            <a:endParaRPr lang="en-US" sz="1400" dirty="0"/>
          </a:p>
        </p:txBody>
      </p:sp>
      <p:sp>
        <p:nvSpPr>
          <p:cNvPr id="37"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PRODUCT SHOWCASE</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Dashboard: every next step in one place</a:t>
            </a:r>
            <a:endParaRPr lang="en-US" sz="3400" dirty="0"/>
          </a:p>
        </p:txBody>
      </p:sp>
      <p:sp>
        <p:nvSpPr>
          <p:cNvPr id="4" name="Farmer dashboard screenshot frame"/>
          <p:cNvSpPr/>
          <p:nvPr/>
        </p:nvSpPr>
        <p:spPr>
          <a:xfrm>
            <a:off x="457200" y="1371600"/>
            <a:ext cx="7498080" cy="4486195"/>
          </a:xfrm>
          <a:prstGeom prst="roundRect">
            <a:avLst>
              <a:gd name="adj" fmla="val 2446"/>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5" name="Farmer dashboard screenshot" descr="Farmer dashboard screenshot"/>
          <p:cNvPicPr>
            <a:picLocks noChangeAspect="1"/>
          </p:cNvPicPr>
          <p:nvPr/>
        </p:nvPicPr>
        <p:blipFill>
          <a:blip r:embed="rId3"/>
          <a:stretch>
            <a:fillRect/>
          </a:stretch>
        </p:blipFill>
        <p:spPr>
          <a:xfrm>
            <a:off x="530352" y="1444752"/>
            <a:ext cx="7351776" cy="4339891"/>
          </a:xfrm>
          <a:prstGeom prst="rect">
            <a:avLst/>
          </a:prstGeom>
        </p:spPr>
      </p:pic>
      <p:sp>
        <p:nvSpPr>
          <p:cNvPr id="6" name="marker 1"/>
          <p:cNvSpPr/>
          <p:nvPr/>
        </p:nvSpPr>
        <p:spPr>
          <a:xfrm>
            <a:off x="1547241" y="1772412"/>
            <a:ext cx="365760" cy="365760"/>
          </a:xfrm>
          <a:prstGeom prst="ellipse">
            <a:avLst/>
          </a:prstGeom>
          <a:solidFill>
            <a:schemeClr val="accent2"/>
          </a:solidFill>
          <a:ln w="25400">
            <a:solidFill>
              <a:schemeClr val="bg1"/>
            </a:solidFill>
            <a:prstDash val="solid"/>
          </a:ln>
        </p:spPr>
      </p:sp>
      <p:sp>
        <p:nvSpPr>
          <p:cNvPr id="7" name="Text 4"/>
          <p:cNvSpPr txBox="1"/>
          <p:nvPr/>
        </p:nvSpPr>
        <p:spPr>
          <a:xfrm>
            <a:off x="1547241" y="1772412"/>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8" name="marker 2"/>
          <p:cNvSpPr/>
          <p:nvPr/>
        </p:nvSpPr>
        <p:spPr>
          <a:xfrm>
            <a:off x="2900172" y="3163633"/>
            <a:ext cx="365760" cy="365760"/>
          </a:xfrm>
          <a:prstGeom prst="ellipse">
            <a:avLst/>
          </a:prstGeom>
          <a:solidFill>
            <a:schemeClr val="accent2"/>
          </a:solidFill>
          <a:ln w="25400">
            <a:solidFill>
              <a:schemeClr val="bg1"/>
            </a:solidFill>
            <a:prstDash val="solid"/>
          </a:ln>
        </p:spPr>
      </p:sp>
      <p:sp>
        <p:nvSpPr>
          <p:cNvPr id="9" name="Text 6"/>
          <p:cNvSpPr txBox="1"/>
          <p:nvPr/>
        </p:nvSpPr>
        <p:spPr>
          <a:xfrm>
            <a:off x="2900172" y="3163633"/>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0" name="marker 3"/>
          <p:cNvSpPr/>
          <p:nvPr/>
        </p:nvSpPr>
        <p:spPr>
          <a:xfrm>
            <a:off x="4023360" y="4248531"/>
            <a:ext cx="365760" cy="365760"/>
          </a:xfrm>
          <a:prstGeom prst="ellipse">
            <a:avLst/>
          </a:prstGeom>
          <a:solidFill>
            <a:schemeClr val="accent2"/>
          </a:solidFill>
          <a:ln w="25400">
            <a:solidFill>
              <a:schemeClr val="bg1"/>
            </a:solidFill>
            <a:prstDash val="solid"/>
          </a:ln>
        </p:spPr>
      </p:sp>
      <p:sp>
        <p:nvSpPr>
          <p:cNvPr id="11" name="Text 8"/>
          <p:cNvSpPr txBox="1"/>
          <p:nvPr/>
        </p:nvSpPr>
        <p:spPr>
          <a:xfrm>
            <a:off x="4023360" y="4248531"/>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2" name="marker 4"/>
          <p:cNvSpPr/>
          <p:nvPr/>
        </p:nvSpPr>
        <p:spPr>
          <a:xfrm>
            <a:off x="6805803" y="1746885"/>
            <a:ext cx="365760" cy="365760"/>
          </a:xfrm>
          <a:prstGeom prst="ellipse">
            <a:avLst/>
          </a:prstGeom>
          <a:solidFill>
            <a:schemeClr val="accent2"/>
          </a:solidFill>
          <a:ln w="25400">
            <a:solidFill>
              <a:schemeClr val="bg1"/>
            </a:solidFill>
            <a:prstDash val="solid"/>
          </a:ln>
        </p:spPr>
      </p:sp>
      <p:sp>
        <p:nvSpPr>
          <p:cNvPr id="13" name="Text 10"/>
          <p:cNvSpPr txBox="1"/>
          <p:nvPr/>
        </p:nvSpPr>
        <p:spPr>
          <a:xfrm>
            <a:off x="6805803" y="1746885"/>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4" name="Text 11"/>
          <p:cNvSpPr txBox="1"/>
          <p:nvPr/>
        </p:nvSpPr>
        <p:spPr>
          <a:xfrm>
            <a:off x="457200" y="5989320"/>
            <a:ext cx="7498080" cy="274320"/>
          </a:xfrm>
          <a:prstGeom prst="rect">
            <a:avLst/>
          </a:prstGeom>
          <a:noFill/>
          <a:ln/>
        </p:spPr>
        <p:txBody>
          <a:bodyPr wrap="square" lIns="0" tIns="0" rIns="0" bIns="0" rtlCol="0" anchor="ctr"/>
          <a:lstStyle/>
          <a:p>
            <a:pPr marL="0" indent="0">
              <a:buNone/>
            </a:pPr>
            <a:r>
              <a:rPr lang="en-US" sz="1200" i="1" dirty="0">
                <a:solidFill>
                  <a:srgbClr val="4F6558"/>
                </a:solidFill>
              </a:rPr>
              <a:t>Real screenshot of the working prototype · sample data shown</a:t>
            </a:r>
            <a:endParaRPr lang="en-US" sz="1200" dirty="0"/>
          </a:p>
        </p:txBody>
      </p:sp>
      <p:sp>
        <p:nvSpPr>
          <p:cNvPr id="15" name="marker 1"/>
          <p:cNvSpPr/>
          <p:nvPr/>
        </p:nvSpPr>
        <p:spPr>
          <a:xfrm>
            <a:off x="8183880" y="1463040"/>
            <a:ext cx="365760" cy="365760"/>
          </a:xfrm>
          <a:prstGeom prst="ellipse">
            <a:avLst/>
          </a:prstGeom>
          <a:solidFill>
            <a:schemeClr val="accent2"/>
          </a:solidFill>
          <a:ln w="25400">
            <a:solidFill>
              <a:schemeClr val="bg1"/>
            </a:solidFill>
            <a:prstDash val="solid"/>
          </a:ln>
        </p:spPr>
      </p:sp>
      <p:sp>
        <p:nvSpPr>
          <p:cNvPr id="16" name="Text 13"/>
          <p:cNvSpPr txBox="1"/>
          <p:nvPr/>
        </p:nvSpPr>
        <p:spPr>
          <a:xfrm>
            <a:off x="8183880" y="146304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17" name="Text 14"/>
          <p:cNvSpPr txBox="1"/>
          <p:nvPr/>
        </p:nvSpPr>
        <p:spPr>
          <a:xfrm>
            <a:off x="8686800" y="1371600"/>
            <a:ext cx="3017520" cy="292608"/>
          </a:xfrm>
          <a:prstGeom prst="rect">
            <a:avLst/>
          </a:prstGeom>
          <a:noFill/>
          <a:ln/>
        </p:spPr>
        <p:txBody>
          <a:bodyPr wrap="square" lIns="0" tIns="0" rIns="0" bIns="0" rtlCol="0" anchor="ctr"/>
          <a:lstStyle/>
          <a:p>
            <a:pPr marL="0" indent="0">
              <a:buNone/>
            </a:pPr>
            <a:r>
              <a:rPr lang="en-US" sz="1600" b="1" dirty="0">
                <a:solidFill>
                  <a:schemeClr val="tx2"/>
                </a:solidFill>
              </a:rPr>
              <a:t>One menu, seven tools</a:t>
            </a:r>
            <a:endParaRPr lang="en-US" sz="1600" dirty="0"/>
          </a:p>
        </p:txBody>
      </p:sp>
      <p:sp>
        <p:nvSpPr>
          <p:cNvPr id="18" name="Text 15"/>
          <p:cNvSpPr txBox="1"/>
          <p:nvPr/>
        </p:nvSpPr>
        <p:spPr>
          <a:xfrm>
            <a:off x="8686800" y="1664208"/>
            <a:ext cx="3017520" cy="457200"/>
          </a:xfrm>
          <a:prstGeom prst="rect">
            <a:avLst/>
          </a:prstGeom>
          <a:noFill/>
          <a:ln/>
        </p:spPr>
        <p:txBody>
          <a:bodyPr wrap="square" lIns="0" tIns="0" rIns="0" bIns="0" rtlCol="0" anchor="t"/>
          <a:lstStyle/>
          <a:p>
            <a:pPr marL="0" indent="0">
              <a:buNone/>
            </a:pPr>
            <a:r>
              <a:rPr lang="en-US" sz="1400" dirty="0">
                <a:solidFill>
                  <a:srgbClr val="4F6558"/>
                </a:solidFill>
              </a:rPr>
              <a:t>Switch between planner, support, schemes and help</a:t>
            </a:r>
            <a:endParaRPr lang="en-US" sz="1400" dirty="0"/>
          </a:p>
        </p:txBody>
      </p:sp>
      <p:sp>
        <p:nvSpPr>
          <p:cNvPr id="19" name="marker 2"/>
          <p:cNvSpPr/>
          <p:nvPr/>
        </p:nvSpPr>
        <p:spPr>
          <a:xfrm>
            <a:off x="8183880" y="2240280"/>
            <a:ext cx="365760" cy="365760"/>
          </a:xfrm>
          <a:prstGeom prst="ellipse">
            <a:avLst/>
          </a:prstGeom>
          <a:solidFill>
            <a:schemeClr val="accent2"/>
          </a:solidFill>
          <a:ln w="25400">
            <a:solidFill>
              <a:schemeClr val="bg1"/>
            </a:solidFill>
            <a:prstDash val="solid"/>
          </a:ln>
        </p:spPr>
      </p:sp>
      <p:sp>
        <p:nvSpPr>
          <p:cNvPr id="20" name="Text 17"/>
          <p:cNvSpPr txBox="1"/>
          <p:nvPr/>
        </p:nvSpPr>
        <p:spPr>
          <a:xfrm>
            <a:off x="8183880" y="224028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21" name="Text 18"/>
          <p:cNvSpPr txBox="1"/>
          <p:nvPr/>
        </p:nvSpPr>
        <p:spPr>
          <a:xfrm>
            <a:off x="8686800" y="2148840"/>
            <a:ext cx="3017520" cy="292608"/>
          </a:xfrm>
          <a:prstGeom prst="rect">
            <a:avLst/>
          </a:prstGeom>
          <a:noFill/>
          <a:ln/>
        </p:spPr>
        <p:txBody>
          <a:bodyPr wrap="square" lIns="0" tIns="0" rIns="0" bIns="0" rtlCol="0" anchor="ctr"/>
          <a:lstStyle/>
          <a:p>
            <a:pPr marL="0" indent="0">
              <a:buNone/>
            </a:pPr>
            <a:r>
              <a:rPr lang="en-US" sz="1600" b="1" dirty="0">
                <a:solidFill>
                  <a:schemeClr val="tx2"/>
                </a:solidFill>
              </a:rPr>
              <a:t>Quick actions</a:t>
            </a:r>
            <a:endParaRPr lang="en-US" sz="1600" dirty="0"/>
          </a:p>
        </p:txBody>
      </p:sp>
      <p:sp>
        <p:nvSpPr>
          <p:cNvPr id="22" name="Text 19"/>
          <p:cNvSpPr txBox="1"/>
          <p:nvPr/>
        </p:nvSpPr>
        <p:spPr>
          <a:xfrm>
            <a:off x="8686800" y="2441448"/>
            <a:ext cx="3017520" cy="457200"/>
          </a:xfrm>
          <a:prstGeom prst="rect">
            <a:avLst/>
          </a:prstGeom>
          <a:noFill/>
          <a:ln/>
        </p:spPr>
        <p:txBody>
          <a:bodyPr wrap="square" lIns="0" tIns="0" rIns="0" bIns="0" rtlCol="0" anchor="t"/>
          <a:lstStyle/>
          <a:p>
            <a:pPr marL="0" indent="0">
              <a:buNone/>
            </a:pPr>
            <a:r>
              <a:rPr lang="en-US" sz="1400" dirty="0">
                <a:solidFill>
                  <a:srgbClr val="4F6558"/>
                </a:solidFill>
              </a:rPr>
              <a:t>Plan your profit or explore schemes in one tap</a:t>
            </a:r>
            <a:endParaRPr lang="en-US" sz="1400" dirty="0"/>
          </a:p>
        </p:txBody>
      </p:sp>
      <p:sp>
        <p:nvSpPr>
          <p:cNvPr id="23" name="marker 3"/>
          <p:cNvSpPr/>
          <p:nvPr/>
        </p:nvSpPr>
        <p:spPr>
          <a:xfrm>
            <a:off x="8183880" y="3017520"/>
            <a:ext cx="365760" cy="365760"/>
          </a:xfrm>
          <a:prstGeom prst="ellipse">
            <a:avLst/>
          </a:prstGeom>
          <a:solidFill>
            <a:schemeClr val="accent2"/>
          </a:solidFill>
          <a:ln w="25400">
            <a:solidFill>
              <a:schemeClr val="bg1"/>
            </a:solidFill>
            <a:prstDash val="solid"/>
          </a:ln>
        </p:spPr>
      </p:sp>
      <p:sp>
        <p:nvSpPr>
          <p:cNvPr id="24" name="Text 21"/>
          <p:cNvSpPr txBox="1"/>
          <p:nvPr/>
        </p:nvSpPr>
        <p:spPr>
          <a:xfrm>
            <a:off x="8183880" y="301752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25" name="Text 22"/>
          <p:cNvSpPr txBox="1"/>
          <p:nvPr/>
        </p:nvSpPr>
        <p:spPr>
          <a:xfrm>
            <a:off x="8686800" y="2926080"/>
            <a:ext cx="3017520" cy="292608"/>
          </a:xfrm>
          <a:prstGeom prst="rect">
            <a:avLst/>
          </a:prstGeom>
          <a:noFill/>
          <a:ln/>
        </p:spPr>
        <p:txBody>
          <a:bodyPr wrap="square" lIns="0" tIns="0" rIns="0" bIns="0" rtlCol="0" anchor="ctr"/>
          <a:lstStyle/>
          <a:p>
            <a:pPr marL="0" indent="0">
              <a:buNone/>
            </a:pPr>
            <a:r>
              <a:rPr lang="en-US" sz="1600" b="1" dirty="0">
                <a:solidFill>
                  <a:schemeClr val="tx2"/>
                </a:solidFill>
              </a:rPr>
              <a:t>At-a-glance cards</a:t>
            </a:r>
            <a:endParaRPr lang="en-US" sz="1600" dirty="0"/>
          </a:p>
        </p:txBody>
      </p:sp>
      <p:sp>
        <p:nvSpPr>
          <p:cNvPr id="26" name="Text 23"/>
          <p:cNvSpPr txBox="1"/>
          <p:nvPr/>
        </p:nvSpPr>
        <p:spPr>
          <a:xfrm>
            <a:off x="8686800" y="3218688"/>
            <a:ext cx="3017520" cy="457200"/>
          </a:xfrm>
          <a:prstGeom prst="rect">
            <a:avLst/>
          </a:prstGeom>
          <a:noFill/>
          <a:ln/>
        </p:spPr>
        <p:txBody>
          <a:bodyPr wrap="square" lIns="0" tIns="0" rIns="0" bIns="0" rtlCol="0" anchor="t"/>
          <a:lstStyle/>
          <a:p>
            <a:pPr marL="0" indent="0">
              <a:buNone/>
            </a:pPr>
            <a:r>
              <a:rPr lang="en-US" sz="1400" dirty="0">
                <a:solidFill>
                  <a:srgbClr val="4F6558"/>
                </a:solidFill>
              </a:rPr>
              <a:t>Profit estimate, 5 scheme resources, 6-step checklist</a:t>
            </a:r>
            <a:endParaRPr lang="en-US" sz="1400" dirty="0"/>
          </a:p>
        </p:txBody>
      </p:sp>
      <p:sp>
        <p:nvSpPr>
          <p:cNvPr id="27" name="marker 4"/>
          <p:cNvSpPr/>
          <p:nvPr/>
        </p:nvSpPr>
        <p:spPr>
          <a:xfrm>
            <a:off x="8183880" y="3794760"/>
            <a:ext cx="365760" cy="365760"/>
          </a:xfrm>
          <a:prstGeom prst="ellipse">
            <a:avLst/>
          </a:prstGeom>
          <a:solidFill>
            <a:schemeClr val="accent2"/>
          </a:solidFill>
          <a:ln w="25400">
            <a:solidFill>
              <a:schemeClr val="bg1"/>
            </a:solidFill>
            <a:prstDash val="solid"/>
          </a:ln>
        </p:spPr>
      </p:sp>
      <p:sp>
        <p:nvSpPr>
          <p:cNvPr id="28" name="Text 25"/>
          <p:cNvSpPr txBox="1"/>
          <p:nvPr/>
        </p:nvSpPr>
        <p:spPr>
          <a:xfrm>
            <a:off x="8183880" y="379476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29" name="Text 26"/>
          <p:cNvSpPr txBox="1"/>
          <p:nvPr/>
        </p:nvSpPr>
        <p:spPr>
          <a:xfrm>
            <a:off x="8686800" y="3703320"/>
            <a:ext cx="3017520" cy="292608"/>
          </a:xfrm>
          <a:prstGeom prst="rect">
            <a:avLst/>
          </a:prstGeom>
          <a:noFill/>
          <a:ln/>
        </p:spPr>
        <p:txBody>
          <a:bodyPr wrap="square" lIns="0" tIns="0" rIns="0" bIns="0" rtlCol="0" anchor="ctr"/>
          <a:lstStyle/>
          <a:p>
            <a:pPr marL="0" indent="0">
              <a:buNone/>
            </a:pPr>
            <a:r>
              <a:rPr lang="en-US" sz="1600" b="1" dirty="0">
                <a:solidFill>
                  <a:schemeClr val="tx2"/>
                </a:solidFill>
              </a:rPr>
              <a:t>Language and profile</a:t>
            </a:r>
            <a:endParaRPr lang="en-US" sz="1600" dirty="0"/>
          </a:p>
        </p:txBody>
      </p:sp>
      <p:sp>
        <p:nvSpPr>
          <p:cNvPr id="30" name="Text 27"/>
          <p:cNvSpPr txBox="1"/>
          <p:nvPr/>
        </p:nvSpPr>
        <p:spPr>
          <a:xfrm>
            <a:off x="8686800" y="3995928"/>
            <a:ext cx="3017520" cy="457200"/>
          </a:xfrm>
          <a:prstGeom prst="rect">
            <a:avLst/>
          </a:prstGeom>
          <a:noFill/>
          <a:ln/>
        </p:spPr>
        <p:txBody>
          <a:bodyPr wrap="square" lIns="0" tIns="0" rIns="0" bIns="0" rtlCol="0" anchor="t"/>
          <a:lstStyle/>
          <a:p>
            <a:pPr marL="0" indent="0">
              <a:buNone/>
            </a:pPr>
            <a:r>
              <a:rPr lang="en-US" sz="1400" dirty="0">
                <a:solidFill>
                  <a:srgbClr val="4F6558"/>
                </a:solidFill>
              </a:rPr>
              <a:t>English · தமிழ் · हिन्दी, plus crop and district</a:t>
            </a:r>
            <a:endParaRPr lang="en-US" sz="1400" dirty="0"/>
          </a:p>
        </p:txBody>
      </p:sp>
      <p:sp>
        <p:nvSpPr>
          <p:cNvPr id="31" name="Text 28"/>
          <p:cNvSpPr txBox="1"/>
          <p:nvPr/>
        </p:nvSpPr>
        <p:spPr>
          <a:xfrm>
            <a:off x="8183880" y="4663440"/>
            <a:ext cx="3611880" cy="274320"/>
          </a:xfrm>
          <a:prstGeom prst="rect">
            <a:avLst/>
          </a:prstGeom>
          <a:noFill/>
          <a:ln/>
        </p:spPr>
        <p:txBody>
          <a:bodyPr wrap="square" lIns="0" tIns="0" rIns="0" bIns="0" rtlCol="0" anchor="ctr"/>
          <a:lstStyle/>
          <a:p>
            <a:pPr marL="0" indent="0">
              <a:buNone/>
            </a:pPr>
            <a:r>
              <a:rPr lang="en-US" sz="1200" i="1" dirty="0">
                <a:solidFill>
                  <a:srgbClr val="4F6558"/>
                </a:solidFill>
              </a:rPr>
              <a:t>Below the fold: action plan &amp; market snapshot</a:t>
            </a:r>
            <a:endParaRPr lang="en-US" sz="1200" dirty="0"/>
          </a:p>
        </p:txBody>
      </p:sp>
      <p:sp>
        <p:nvSpPr>
          <p:cNvPr id="32" name="Dashboard lower panels frame"/>
          <p:cNvSpPr/>
          <p:nvPr/>
        </p:nvSpPr>
        <p:spPr>
          <a:xfrm>
            <a:off x="8156448" y="4910328"/>
            <a:ext cx="3621024" cy="1278135"/>
          </a:xfrm>
          <a:prstGeom prst="roundRect">
            <a:avLst>
              <a:gd name="adj" fmla="val 8585"/>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33" name="Dashboard lower panels" descr="Dashboard lower panels"/>
          <p:cNvPicPr>
            <a:picLocks noChangeAspect="1"/>
          </p:cNvPicPr>
          <p:nvPr/>
        </p:nvPicPr>
        <p:blipFill>
          <a:blip r:embed="rId4"/>
          <a:stretch>
            <a:fillRect/>
          </a:stretch>
        </p:blipFill>
        <p:spPr>
          <a:xfrm>
            <a:off x="8229600" y="4983480"/>
            <a:ext cx="3474720" cy="1131831"/>
          </a:xfrm>
          <a:prstGeom prst="rect">
            <a:avLst/>
          </a:prstGeom>
        </p:spPr>
      </p:pic>
      <p:sp>
        <p:nvSpPr>
          <p:cNvPr id="34"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PROFIT PLANNER</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Smart profit planner</a:t>
            </a:r>
            <a:endParaRPr lang="en-US" sz="3400" dirty="0"/>
          </a:p>
        </p:txBody>
      </p:sp>
      <p:sp>
        <p:nvSpPr>
          <p:cNvPr id="4" name="Profit planner screenshot frame"/>
          <p:cNvSpPr/>
          <p:nvPr/>
        </p:nvSpPr>
        <p:spPr>
          <a:xfrm>
            <a:off x="548640" y="1371600"/>
            <a:ext cx="6181344" cy="3322641"/>
          </a:xfrm>
          <a:prstGeom prst="roundRect">
            <a:avLst>
              <a:gd name="adj" fmla="val 3302"/>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5" name="Profit planner screenshot" descr="Profit planner screenshot"/>
          <p:cNvPicPr>
            <a:picLocks noChangeAspect="1"/>
          </p:cNvPicPr>
          <p:nvPr/>
        </p:nvPicPr>
        <p:blipFill>
          <a:blip r:embed="rId3"/>
          <a:stretch>
            <a:fillRect/>
          </a:stretch>
        </p:blipFill>
        <p:spPr>
          <a:xfrm>
            <a:off x="621792" y="1444752"/>
            <a:ext cx="6035040" cy="3176337"/>
          </a:xfrm>
          <a:prstGeom prst="rect">
            <a:avLst/>
          </a:prstGeom>
        </p:spPr>
      </p:pic>
      <p:sp>
        <p:nvSpPr>
          <p:cNvPr id="6" name="Sample market comparison frame"/>
          <p:cNvSpPr/>
          <p:nvPr/>
        </p:nvSpPr>
        <p:spPr>
          <a:xfrm>
            <a:off x="548640" y="4773168"/>
            <a:ext cx="6181344" cy="1571007"/>
          </a:xfrm>
          <a:prstGeom prst="roundRect">
            <a:avLst>
              <a:gd name="adj" fmla="val 6985"/>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7" name="Sample market comparison" descr="Sample market comparison"/>
          <p:cNvPicPr>
            <a:picLocks noChangeAspect="1"/>
          </p:cNvPicPr>
          <p:nvPr/>
        </p:nvPicPr>
        <p:blipFill>
          <a:blip r:embed="rId4"/>
          <a:stretch>
            <a:fillRect/>
          </a:stretch>
        </p:blipFill>
        <p:spPr>
          <a:xfrm>
            <a:off x="621792" y="4846320"/>
            <a:ext cx="6035040" cy="1424703"/>
          </a:xfrm>
          <a:prstGeom prst="rect">
            <a:avLst/>
          </a:prstGeom>
        </p:spPr>
      </p:pic>
      <p:sp>
        <p:nvSpPr>
          <p:cNvPr id="8" name="Text 4"/>
          <p:cNvSpPr txBox="1"/>
          <p:nvPr/>
        </p:nvSpPr>
        <p:spPr>
          <a:xfrm>
            <a:off x="7223760" y="1371600"/>
            <a:ext cx="448056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INPUTS</a:t>
            </a:r>
            <a:endParaRPr lang="en-US" sz="1200" dirty="0"/>
          </a:p>
        </p:txBody>
      </p:sp>
      <p:sp>
        <p:nvSpPr>
          <p:cNvPr id="9" name="Shape 5"/>
          <p:cNvSpPr/>
          <p:nvPr/>
        </p:nvSpPr>
        <p:spPr>
          <a:xfrm>
            <a:off x="7223760" y="1691640"/>
            <a:ext cx="1417320" cy="411480"/>
          </a:xfrm>
          <a:prstGeom prst="roundRect">
            <a:avLst>
              <a:gd name="adj" fmla="val 50000"/>
            </a:avLst>
          </a:prstGeom>
          <a:solidFill>
            <a:schemeClr val="accent5"/>
          </a:solidFill>
          <a:ln w="12700">
            <a:solidFill>
              <a:schemeClr val="accent5"/>
            </a:solidFill>
            <a:prstDash val="solid"/>
          </a:ln>
        </p:spPr>
      </p:sp>
      <p:sp>
        <p:nvSpPr>
          <p:cNvPr id="10" name="Text 6"/>
          <p:cNvSpPr txBox="1"/>
          <p:nvPr/>
        </p:nvSpPr>
        <p:spPr>
          <a:xfrm>
            <a:off x="7223760" y="1691640"/>
            <a:ext cx="1417320" cy="411480"/>
          </a:xfrm>
          <a:prstGeom prst="rect">
            <a:avLst/>
          </a:prstGeom>
          <a:noFill/>
          <a:ln/>
        </p:spPr>
        <p:txBody>
          <a:bodyPr wrap="square" lIns="0" tIns="0" rIns="0" bIns="0" rtlCol="0" anchor="ctr"/>
          <a:lstStyle/>
          <a:p>
            <a:pPr marL="0" indent="0" algn="ctr">
              <a:buNone/>
            </a:pPr>
            <a:r>
              <a:rPr lang="en-US" sz="1400" b="1" dirty="0">
                <a:solidFill>
                  <a:schemeClr val="tx2"/>
                </a:solidFill>
              </a:rPr>
              <a:t>Quantity</a:t>
            </a:r>
            <a:endParaRPr lang="en-US" sz="1400" dirty="0"/>
          </a:p>
        </p:txBody>
      </p:sp>
      <p:sp>
        <p:nvSpPr>
          <p:cNvPr id="11" name="Shape 7"/>
          <p:cNvSpPr/>
          <p:nvPr/>
        </p:nvSpPr>
        <p:spPr>
          <a:xfrm>
            <a:off x="8778240" y="1691640"/>
            <a:ext cx="1691640" cy="411480"/>
          </a:xfrm>
          <a:prstGeom prst="roundRect">
            <a:avLst>
              <a:gd name="adj" fmla="val 50000"/>
            </a:avLst>
          </a:prstGeom>
          <a:solidFill>
            <a:schemeClr val="accent5"/>
          </a:solidFill>
          <a:ln w="12700">
            <a:solidFill>
              <a:schemeClr val="accent5"/>
            </a:solidFill>
            <a:prstDash val="solid"/>
          </a:ln>
        </p:spPr>
      </p:sp>
      <p:sp>
        <p:nvSpPr>
          <p:cNvPr id="12" name="Text 8"/>
          <p:cNvSpPr txBox="1"/>
          <p:nvPr/>
        </p:nvSpPr>
        <p:spPr>
          <a:xfrm>
            <a:off x="8778240" y="1691640"/>
            <a:ext cx="1691640" cy="411480"/>
          </a:xfrm>
          <a:prstGeom prst="rect">
            <a:avLst/>
          </a:prstGeom>
          <a:noFill/>
          <a:ln/>
        </p:spPr>
        <p:txBody>
          <a:bodyPr wrap="square" lIns="0" tIns="0" rIns="0" bIns="0" rtlCol="0" anchor="ctr"/>
          <a:lstStyle/>
          <a:p>
            <a:pPr marL="0" indent="0" algn="ctr">
              <a:buNone/>
            </a:pPr>
            <a:r>
              <a:rPr lang="en-US" sz="1400" b="1" dirty="0">
                <a:solidFill>
                  <a:schemeClr val="tx2"/>
                </a:solidFill>
              </a:rPr>
              <a:t>Selling price</a:t>
            </a:r>
            <a:endParaRPr lang="en-US" sz="1400" dirty="0"/>
          </a:p>
        </p:txBody>
      </p:sp>
      <p:sp>
        <p:nvSpPr>
          <p:cNvPr id="13" name="Shape 9"/>
          <p:cNvSpPr/>
          <p:nvPr/>
        </p:nvSpPr>
        <p:spPr>
          <a:xfrm>
            <a:off x="10607040" y="1691640"/>
            <a:ext cx="1143000" cy="411480"/>
          </a:xfrm>
          <a:prstGeom prst="roundRect">
            <a:avLst>
              <a:gd name="adj" fmla="val 50000"/>
            </a:avLst>
          </a:prstGeom>
          <a:solidFill>
            <a:schemeClr val="accent5"/>
          </a:solidFill>
          <a:ln w="12700">
            <a:solidFill>
              <a:schemeClr val="accent5"/>
            </a:solidFill>
            <a:prstDash val="solid"/>
          </a:ln>
        </p:spPr>
      </p:sp>
      <p:sp>
        <p:nvSpPr>
          <p:cNvPr id="14" name="Text 10"/>
          <p:cNvSpPr txBox="1"/>
          <p:nvPr/>
        </p:nvSpPr>
        <p:spPr>
          <a:xfrm>
            <a:off x="10607040" y="1691640"/>
            <a:ext cx="1143000" cy="411480"/>
          </a:xfrm>
          <a:prstGeom prst="rect">
            <a:avLst/>
          </a:prstGeom>
          <a:noFill/>
          <a:ln/>
        </p:spPr>
        <p:txBody>
          <a:bodyPr wrap="square" lIns="0" tIns="0" rIns="0" bIns="0" rtlCol="0" anchor="ctr"/>
          <a:lstStyle/>
          <a:p>
            <a:pPr marL="0" indent="0" algn="ctr">
              <a:buNone/>
            </a:pPr>
            <a:r>
              <a:rPr lang="en-US" sz="1400" b="1" dirty="0">
                <a:solidFill>
                  <a:schemeClr val="tx2"/>
                </a:solidFill>
              </a:rPr>
              <a:t>Expenses</a:t>
            </a:r>
            <a:endParaRPr lang="en-US" sz="1400" dirty="0"/>
          </a:p>
        </p:txBody>
      </p:sp>
      <p:sp>
        <p:nvSpPr>
          <p:cNvPr id="15" name="Shape 11"/>
          <p:cNvSpPr/>
          <p:nvPr/>
        </p:nvSpPr>
        <p:spPr>
          <a:xfrm>
            <a:off x="7223760" y="2194560"/>
            <a:ext cx="1554480" cy="411480"/>
          </a:xfrm>
          <a:prstGeom prst="roundRect">
            <a:avLst>
              <a:gd name="adj" fmla="val 50000"/>
            </a:avLst>
          </a:prstGeom>
          <a:solidFill>
            <a:schemeClr val="accent5"/>
          </a:solidFill>
          <a:ln w="12700">
            <a:solidFill>
              <a:schemeClr val="accent5"/>
            </a:solidFill>
            <a:prstDash val="solid"/>
          </a:ln>
        </p:spPr>
      </p:sp>
      <p:sp>
        <p:nvSpPr>
          <p:cNvPr id="16" name="Text 12"/>
          <p:cNvSpPr txBox="1"/>
          <p:nvPr/>
        </p:nvSpPr>
        <p:spPr>
          <a:xfrm>
            <a:off x="7223760" y="2194560"/>
            <a:ext cx="1554480" cy="411480"/>
          </a:xfrm>
          <a:prstGeom prst="rect">
            <a:avLst/>
          </a:prstGeom>
          <a:noFill/>
          <a:ln/>
        </p:spPr>
        <p:txBody>
          <a:bodyPr wrap="square" lIns="0" tIns="0" rIns="0" bIns="0" rtlCol="0" anchor="ctr"/>
          <a:lstStyle/>
          <a:p>
            <a:pPr marL="0" indent="0" algn="ctr">
              <a:buNone/>
            </a:pPr>
            <a:r>
              <a:rPr lang="en-US" sz="1400" b="1" dirty="0">
                <a:solidFill>
                  <a:schemeClr val="tx2"/>
                </a:solidFill>
              </a:rPr>
              <a:t>Transport</a:t>
            </a:r>
            <a:endParaRPr lang="en-US" sz="1400" dirty="0"/>
          </a:p>
        </p:txBody>
      </p:sp>
      <p:sp>
        <p:nvSpPr>
          <p:cNvPr id="17" name="Shape 13"/>
          <p:cNvSpPr/>
          <p:nvPr/>
        </p:nvSpPr>
        <p:spPr>
          <a:xfrm>
            <a:off x="8915400" y="2194560"/>
            <a:ext cx="1691640" cy="411480"/>
          </a:xfrm>
          <a:prstGeom prst="roundRect">
            <a:avLst>
              <a:gd name="adj" fmla="val 50000"/>
            </a:avLst>
          </a:prstGeom>
          <a:solidFill>
            <a:schemeClr val="accent5"/>
          </a:solidFill>
          <a:ln w="12700">
            <a:solidFill>
              <a:schemeClr val="accent5"/>
            </a:solidFill>
            <a:prstDash val="solid"/>
          </a:ln>
        </p:spPr>
      </p:sp>
      <p:sp>
        <p:nvSpPr>
          <p:cNvPr id="18" name="Text 14"/>
          <p:cNvSpPr txBox="1"/>
          <p:nvPr/>
        </p:nvSpPr>
        <p:spPr>
          <a:xfrm>
            <a:off x="8915400" y="2194560"/>
            <a:ext cx="1691640" cy="411480"/>
          </a:xfrm>
          <a:prstGeom prst="rect">
            <a:avLst/>
          </a:prstGeom>
          <a:noFill/>
          <a:ln/>
        </p:spPr>
        <p:txBody>
          <a:bodyPr wrap="square" lIns="0" tIns="0" rIns="0" bIns="0" rtlCol="0" anchor="ctr"/>
          <a:lstStyle/>
          <a:p>
            <a:pPr marL="0" indent="0" algn="ctr">
              <a:buNone/>
            </a:pPr>
            <a:r>
              <a:rPr lang="en-US" sz="1400" b="1" dirty="0">
                <a:solidFill>
                  <a:schemeClr val="tx2"/>
                </a:solidFill>
              </a:rPr>
              <a:t>Commission</a:t>
            </a:r>
            <a:endParaRPr lang="en-US" sz="1400" dirty="0"/>
          </a:p>
        </p:txBody>
      </p:sp>
      <p:pic>
        <p:nvPicPr>
          <p:cNvPr id="19" name="Image 2" descr="arrow"/>
          <p:cNvPicPr>
            <a:picLocks noChangeAspect="1"/>
          </p:cNvPicPr>
          <p:nvPr/>
        </p:nvPicPr>
        <p:blipFill>
          <a:blip r:embed="rId5"/>
          <a:stretch>
            <a:fillRect/>
          </a:stretch>
        </p:blipFill>
        <p:spPr>
          <a:xfrm>
            <a:off x="9326880" y="2743200"/>
            <a:ext cx="365760" cy="365760"/>
          </a:xfrm>
          <a:prstGeom prst="rect">
            <a:avLst/>
          </a:prstGeom>
        </p:spPr>
      </p:pic>
      <p:sp>
        <p:nvSpPr>
          <p:cNvPr id="20" name="Text 15"/>
          <p:cNvSpPr txBox="1"/>
          <p:nvPr/>
        </p:nvSpPr>
        <p:spPr>
          <a:xfrm>
            <a:off x="7223760" y="3200400"/>
            <a:ext cx="448056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OUTPUTS</a:t>
            </a:r>
            <a:endParaRPr lang="en-US" sz="1200" dirty="0"/>
          </a:p>
        </p:txBody>
      </p:sp>
      <p:sp>
        <p:nvSpPr>
          <p:cNvPr id="21" name="Shape 16"/>
          <p:cNvSpPr/>
          <p:nvPr/>
        </p:nvSpPr>
        <p:spPr>
          <a:xfrm>
            <a:off x="7223760" y="3520440"/>
            <a:ext cx="2194560" cy="411480"/>
          </a:xfrm>
          <a:prstGeom prst="roundRect">
            <a:avLst>
              <a:gd name="adj" fmla="val 50000"/>
            </a:avLst>
          </a:prstGeom>
          <a:solidFill>
            <a:schemeClr val="tx2"/>
          </a:solidFill>
          <a:ln w="12700">
            <a:solidFill>
              <a:schemeClr val="tx2"/>
            </a:solidFill>
            <a:prstDash val="solid"/>
          </a:ln>
        </p:spPr>
      </p:sp>
      <p:sp>
        <p:nvSpPr>
          <p:cNvPr id="22" name="Text 17"/>
          <p:cNvSpPr txBox="1"/>
          <p:nvPr/>
        </p:nvSpPr>
        <p:spPr>
          <a:xfrm>
            <a:off x="7223760" y="3520440"/>
            <a:ext cx="2194560" cy="411480"/>
          </a:xfrm>
          <a:prstGeom prst="rect">
            <a:avLst/>
          </a:prstGeom>
          <a:noFill/>
          <a:ln/>
        </p:spPr>
        <p:txBody>
          <a:bodyPr wrap="square" lIns="0" tIns="0" rIns="0" bIns="0" rtlCol="0" anchor="ctr"/>
          <a:lstStyle/>
          <a:p>
            <a:pPr marL="0" indent="0" algn="ctr">
              <a:buNone/>
            </a:pPr>
            <a:r>
              <a:rPr lang="en-US" sz="1400" b="1" dirty="0">
                <a:solidFill>
                  <a:schemeClr val="bg1"/>
                </a:solidFill>
              </a:rPr>
              <a:t>Estimated revenue</a:t>
            </a:r>
            <a:endParaRPr lang="en-US" sz="1400" dirty="0"/>
          </a:p>
        </p:txBody>
      </p:sp>
      <p:sp>
        <p:nvSpPr>
          <p:cNvPr id="23" name="Shape 18"/>
          <p:cNvSpPr/>
          <p:nvPr/>
        </p:nvSpPr>
        <p:spPr>
          <a:xfrm>
            <a:off x="9509760" y="3520440"/>
            <a:ext cx="2194560" cy="411480"/>
          </a:xfrm>
          <a:prstGeom prst="roundRect">
            <a:avLst>
              <a:gd name="adj" fmla="val 50000"/>
            </a:avLst>
          </a:prstGeom>
          <a:solidFill>
            <a:schemeClr val="tx2"/>
          </a:solidFill>
          <a:ln w="12700">
            <a:solidFill>
              <a:schemeClr val="tx2"/>
            </a:solidFill>
            <a:prstDash val="solid"/>
          </a:ln>
        </p:spPr>
      </p:sp>
      <p:sp>
        <p:nvSpPr>
          <p:cNvPr id="24" name="Text 19"/>
          <p:cNvSpPr txBox="1"/>
          <p:nvPr/>
        </p:nvSpPr>
        <p:spPr>
          <a:xfrm>
            <a:off x="9509760" y="3520440"/>
            <a:ext cx="2194560" cy="411480"/>
          </a:xfrm>
          <a:prstGeom prst="rect">
            <a:avLst/>
          </a:prstGeom>
          <a:noFill/>
          <a:ln/>
        </p:spPr>
        <p:txBody>
          <a:bodyPr wrap="square" lIns="0" tIns="0" rIns="0" bIns="0" rtlCol="0" anchor="ctr"/>
          <a:lstStyle/>
          <a:p>
            <a:pPr marL="0" indent="0" algn="ctr">
              <a:buNone/>
            </a:pPr>
            <a:r>
              <a:rPr lang="en-US" sz="1400" b="1" dirty="0">
                <a:solidFill>
                  <a:schemeClr val="bg1"/>
                </a:solidFill>
              </a:rPr>
              <a:t>Estimated expenses</a:t>
            </a:r>
            <a:endParaRPr lang="en-US" sz="1400" dirty="0"/>
          </a:p>
        </p:txBody>
      </p:sp>
      <p:sp>
        <p:nvSpPr>
          <p:cNvPr id="25" name="Shape 20"/>
          <p:cNvSpPr/>
          <p:nvPr/>
        </p:nvSpPr>
        <p:spPr>
          <a:xfrm>
            <a:off x="7223760" y="4023360"/>
            <a:ext cx="2194560" cy="411480"/>
          </a:xfrm>
          <a:prstGeom prst="roundRect">
            <a:avLst>
              <a:gd name="adj" fmla="val 50000"/>
            </a:avLst>
          </a:prstGeom>
          <a:solidFill>
            <a:schemeClr val="tx2"/>
          </a:solidFill>
          <a:ln w="12700">
            <a:solidFill>
              <a:schemeClr val="tx2"/>
            </a:solidFill>
            <a:prstDash val="solid"/>
          </a:ln>
        </p:spPr>
      </p:sp>
      <p:sp>
        <p:nvSpPr>
          <p:cNvPr id="26" name="Text 21"/>
          <p:cNvSpPr txBox="1"/>
          <p:nvPr/>
        </p:nvSpPr>
        <p:spPr>
          <a:xfrm>
            <a:off x="7223760" y="4023360"/>
            <a:ext cx="2194560" cy="411480"/>
          </a:xfrm>
          <a:prstGeom prst="rect">
            <a:avLst/>
          </a:prstGeom>
          <a:noFill/>
          <a:ln/>
        </p:spPr>
        <p:txBody>
          <a:bodyPr wrap="square" lIns="0" tIns="0" rIns="0" bIns="0" rtlCol="0" anchor="ctr"/>
          <a:lstStyle/>
          <a:p>
            <a:pPr marL="0" indent="0" algn="ctr">
              <a:buNone/>
            </a:pPr>
            <a:r>
              <a:rPr lang="en-US" sz="1400" b="1" dirty="0">
                <a:solidFill>
                  <a:schemeClr val="bg1"/>
                </a:solidFill>
              </a:rPr>
              <a:t>Net profit</a:t>
            </a:r>
            <a:endParaRPr lang="en-US" sz="1400" dirty="0"/>
          </a:p>
        </p:txBody>
      </p:sp>
      <p:sp>
        <p:nvSpPr>
          <p:cNvPr id="27" name="Shape 22"/>
          <p:cNvSpPr/>
          <p:nvPr/>
        </p:nvSpPr>
        <p:spPr>
          <a:xfrm>
            <a:off x="9509760" y="4023360"/>
            <a:ext cx="2194560" cy="411480"/>
          </a:xfrm>
          <a:prstGeom prst="roundRect">
            <a:avLst>
              <a:gd name="adj" fmla="val 50000"/>
            </a:avLst>
          </a:prstGeom>
          <a:solidFill>
            <a:schemeClr val="tx2"/>
          </a:solidFill>
          <a:ln w="12700">
            <a:solidFill>
              <a:schemeClr val="tx2"/>
            </a:solidFill>
            <a:prstDash val="solid"/>
          </a:ln>
        </p:spPr>
      </p:sp>
      <p:sp>
        <p:nvSpPr>
          <p:cNvPr id="28" name="Text 23"/>
          <p:cNvSpPr txBox="1"/>
          <p:nvPr/>
        </p:nvSpPr>
        <p:spPr>
          <a:xfrm>
            <a:off x="9509760" y="4023360"/>
            <a:ext cx="2194560" cy="411480"/>
          </a:xfrm>
          <a:prstGeom prst="rect">
            <a:avLst/>
          </a:prstGeom>
          <a:noFill/>
          <a:ln/>
        </p:spPr>
        <p:txBody>
          <a:bodyPr wrap="square" lIns="0" tIns="0" rIns="0" bIns="0" rtlCol="0" anchor="ctr"/>
          <a:lstStyle/>
          <a:p>
            <a:pPr marL="0" indent="0" algn="ctr">
              <a:buNone/>
            </a:pPr>
            <a:r>
              <a:rPr lang="en-US" sz="1400" b="1" dirty="0">
                <a:solidFill>
                  <a:schemeClr val="bg1"/>
                </a:solidFill>
              </a:rPr>
              <a:t>Profit margin</a:t>
            </a:r>
            <a:endParaRPr lang="en-US" sz="1400" dirty="0"/>
          </a:p>
        </p:txBody>
      </p:sp>
      <p:sp>
        <p:nvSpPr>
          <p:cNvPr id="29" name="sample calc"/>
          <p:cNvSpPr/>
          <p:nvPr/>
        </p:nvSpPr>
        <p:spPr>
          <a:xfrm>
            <a:off x="7223760" y="4663440"/>
            <a:ext cx="4480560" cy="1645920"/>
          </a:xfrm>
          <a:prstGeom prst="roundRect">
            <a:avLst>
              <a:gd name="adj" fmla="val 6667"/>
            </a:avLst>
          </a:prstGeom>
          <a:solidFill>
            <a:schemeClr val="tx1"/>
          </a:solidFill>
          <a:ln w="12700">
            <a:solidFill>
              <a:srgbClr val="D9E6CE"/>
            </a:solidFill>
            <a:prstDash val="solid"/>
          </a:ln>
          <a:effectLst>
            <a:outerShdw blurRad="127000" dist="25400" dir="5400000" algn="bl" rotWithShape="0">
              <a:srgbClr val="0E2E20">
                <a:alpha val="18000"/>
              </a:srgbClr>
            </a:outerShdw>
          </a:effectLst>
        </p:spPr>
      </p:sp>
      <p:sp>
        <p:nvSpPr>
          <p:cNvPr id="30" name="Text 25"/>
          <p:cNvSpPr txBox="1"/>
          <p:nvPr/>
        </p:nvSpPr>
        <p:spPr>
          <a:xfrm>
            <a:off x="7452360" y="4773168"/>
            <a:ext cx="4114800" cy="274320"/>
          </a:xfrm>
          <a:prstGeom prst="rect">
            <a:avLst/>
          </a:prstGeom>
          <a:noFill/>
          <a:ln/>
        </p:spPr>
        <p:txBody>
          <a:bodyPr wrap="square" lIns="0" tIns="0" rIns="0" bIns="0" rtlCol="0" anchor="ctr"/>
          <a:lstStyle/>
          <a:p>
            <a:pPr marL="0" indent="0">
              <a:buNone/>
            </a:pPr>
            <a:r>
              <a:rPr lang="en-US" sz="1200" b="1" kern="0" spc="200" dirty="0">
                <a:solidFill>
                  <a:srgbClr val="E9CF7A"/>
                </a:solidFill>
              </a:rPr>
              <a:t>ILLUSTRATIVE EXAMPLE · APP DEFAULTS</a:t>
            </a:r>
            <a:endParaRPr lang="en-US" sz="1200" dirty="0"/>
          </a:p>
        </p:txBody>
      </p:sp>
      <p:sp>
        <p:nvSpPr>
          <p:cNvPr id="31" name="Text 26"/>
          <p:cNvSpPr txBox="1"/>
          <p:nvPr/>
        </p:nvSpPr>
        <p:spPr>
          <a:xfrm>
            <a:off x="7452360" y="5074920"/>
            <a:ext cx="4114800" cy="777240"/>
          </a:xfrm>
          <a:prstGeom prst="rect">
            <a:avLst/>
          </a:prstGeom>
          <a:noFill/>
          <a:ln/>
        </p:spPr>
        <p:txBody>
          <a:bodyPr wrap="square" lIns="0" tIns="0" rIns="0" bIns="0" rtlCol="0" anchor="t"/>
          <a:lstStyle/>
          <a:p>
            <a:pPr marL="0" indent="0">
              <a:spcAft>
                <a:spcPts val="300"/>
              </a:spcAft>
              <a:buNone/>
            </a:pPr>
            <a:r>
              <a:rPr lang="en-US" sz="1400" dirty="0">
                <a:solidFill>
                  <a:schemeClr val="bg1"/>
                </a:solidFill>
              </a:rPr>
              <a:t>45 q × ₹2,300 = ₹1,03,500 sales</a:t>
            </a:r>
            <a:endParaRPr lang="en-US" sz="1400" dirty="0"/>
          </a:p>
          <a:p>
            <a:pPr marL="0" indent="0">
              <a:spcAft>
                <a:spcPts val="300"/>
              </a:spcAft>
              <a:buNone/>
            </a:pPr>
            <a:r>
              <a:rPr lang="en-US" sz="1400" dirty="0">
                <a:solidFill>
                  <a:schemeClr val="bg1"/>
                </a:solidFill>
              </a:rPr>
              <a:t>Costs ₹42,000 + ₹2,500 + ₹2,070 fee = ₹46,570</a:t>
            </a:r>
            <a:endParaRPr lang="en-US" sz="1400" dirty="0"/>
          </a:p>
          <a:p>
            <a:pPr marL="0" indent="0">
              <a:spcAft>
                <a:spcPts val="300"/>
              </a:spcAft>
              <a:buNone/>
            </a:pPr>
            <a:r>
              <a:rPr lang="en-US" sz="1400" b="1" dirty="0">
                <a:solidFill>
                  <a:srgbClr val="D6EE9D"/>
                </a:solidFill>
              </a:rPr>
              <a:t>Net profit ₹56,930  ·  Margin 55.0%</a:t>
            </a:r>
            <a:endParaRPr lang="en-US" sz="1400" dirty="0"/>
          </a:p>
        </p:txBody>
      </p:sp>
      <p:sp>
        <p:nvSpPr>
          <p:cNvPr id="32" name="Text 27"/>
          <p:cNvSpPr txBox="1"/>
          <p:nvPr/>
        </p:nvSpPr>
        <p:spPr>
          <a:xfrm>
            <a:off x="7452360" y="5897880"/>
            <a:ext cx="4114800" cy="274320"/>
          </a:xfrm>
          <a:prstGeom prst="rect">
            <a:avLst/>
          </a:prstGeom>
          <a:noFill/>
          <a:ln/>
        </p:spPr>
        <p:txBody>
          <a:bodyPr wrap="square" lIns="0" tIns="0" rIns="0" bIns="0" rtlCol="0" anchor="ctr"/>
          <a:lstStyle/>
          <a:p>
            <a:pPr marL="0" indent="0">
              <a:buNone/>
            </a:pPr>
            <a:r>
              <a:rPr lang="en-US" sz="1200" i="1" dirty="0">
                <a:solidFill>
                  <a:srgbClr val="CFE7B4"/>
                </a:solidFill>
              </a:rPr>
              <a:t>Example prices are illustrative, not live market data.</a:t>
            </a:r>
            <a:endParaRPr lang="en-US" sz="1200" dirty="0"/>
          </a:p>
        </p:txBody>
      </p:sp>
      <p:sp>
        <p:nvSpPr>
          <p:cNvPr id="33"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PROTECTION &amp; SUPPORT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Farmer protection &amp; government support</a:t>
            </a:r>
            <a:endParaRPr lang="en-US" sz="3400" dirty="0"/>
          </a:p>
        </p:txBody>
      </p:sp>
      <p:sp>
        <p:nvSpPr>
          <p:cNvPr id="4" name="Shape 2"/>
          <p:cNvSpPr/>
          <p:nvPr/>
        </p:nvSpPr>
        <p:spPr>
          <a:xfrm>
            <a:off x="548640" y="1371600"/>
            <a:ext cx="457200" cy="457200"/>
          </a:xfrm>
          <a:prstGeom prst="ellipse">
            <a:avLst/>
          </a:prstGeom>
          <a:solidFill>
            <a:schemeClr val="accent4"/>
          </a:solidFill>
          <a:ln w="12700">
            <a:solidFill>
              <a:schemeClr val="accent4"/>
            </a:solidFill>
            <a:prstDash val="solid"/>
          </a:ln>
        </p:spPr>
      </p:sp>
      <p:pic>
        <p:nvPicPr>
          <p:cNvPr id="5" name="Image 0" descr="icon"/>
          <p:cNvPicPr>
            <a:picLocks noChangeAspect="1"/>
          </p:cNvPicPr>
          <p:nvPr/>
        </p:nvPicPr>
        <p:blipFill>
          <a:blip r:embed="rId3"/>
          <a:stretch>
            <a:fillRect/>
          </a:stretch>
        </p:blipFill>
        <p:spPr>
          <a:xfrm>
            <a:off x="658368" y="1481328"/>
            <a:ext cx="237744" cy="237744"/>
          </a:xfrm>
          <a:prstGeom prst="rect">
            <a:avLst/>
          </a:prstGeom>
        </p:spPr>
      </p:pic>
      <p:sp>
        <p:nvSpPr>
          <p:cNvPr id="6" name="Text 3"/>
          <p:cNvSpPr txBox="1"/>
          <p:nvPr/>
        </p:nvSpPr>
        <p:spPr>
          <a:xfrm>
            <a:off x="1143000" y="1371600"/>
            <a:ext cx="4572000" cy="457200"/>
          </a:xfrm>
          <a:prstGeom prst="rect">
            <a:avLst/>
          </a:prstGeom>
          <a:noFill/>
          <a:ln/>
        </p:spPr>
        <p:txBody>
          <a:bodyPr wrap="square" lIns="0" tIns="0" rIns="0" bIns="0" rtlCol="0" anchor="ctr"/>
          <a:lstStyle/>
          <a:p>
            <a:pPr marL="0" indent="0">
              <a:buNone/>
            </a:pPr>
            <a:r>
              <a:rPr lang="en-US" sz="2000" b="1" dirty="0">
                <a:solidFill>
                  <a:schemeClr val="tx2"/>
                </a:solidFill>
              </a:rPr>
              <a:t>Disaster support</a:t>
            </a:r>
            <a:endParaRPr lang="en-US" sz="2000" dirty="0"/>
          </a:p>
        </p:txBody>
      </p:sp>
      <p:sp>
        <p:nvSpPr>
          <p:cNvPr id="7" name="Disaster support screenshot frame"/>
          <p:cNvSpPr/>
          <p:nvPr/>
        </p:nvSpPr>
        <p:spPr>
          <a:xfrm>
            <a:off x="612648" y="1938528"/>
            <a:ext cx="5266944" cy="3212555"/>
          </a:xfrm>
          <a:prstGeom prst="roundRect">
            <a:avLst>
              <a:gd name="adj" fmla="val 3416"/>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8" name="Disaster support screenshot" descr="Disaster support screenshot"/>
          <p:cNvPicPr>
            <a:picLocks noChangeAspect="1"/>
          </p:cNvPicPr>
          <p:nvPr/>
        </p:nvPicPr>
        <p:blipFill>
          <a:blip r:embed="rId4"/>
          <a:stretch>
            <a:fillRect/>
          </a:stretch>
        </p:blipFill>
        <p:spPr>
          <a:xfrm>
            <a:off x="685800" y="2011680"/>
            <a:ext cx="5120640" cy="3066251"/>
          </a:xfrm>
          <a:prstGeom prst="rect">
            <a:avLst/>
          </a:prstGeom>
        </p:spPr>
      </p:pic>
      <p:sp>
        <p:nvSpPr>
          <p:cNvPr id="9" name="Text 5"/>
          <p:cNvSpPr txBox="1"/>
          <p:nvPr/>
        </p:nvSpPr>
        <p:spPr>
          <a:xfrm>
            <a:off x="685800" y="5349240"/>
            <a:ext cx="5212080" cy="777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6-item preparedness checklist</a:t>
            </a:r>
            <a:endParaRPr lang="en-US" sz="1400" dirty="0"/>
          </a:p>
          <a:p>
            <a:pPr marL="342900" indent="-342900">
              <a:spcAft>
                <a:spcPts val="200"/>
              </a:spcAft>
              <a:buSzPct val="100000"/>
              <a:buChar char="•"/>
            </a:pPr>
            <a:r>
              <a:rPr lang="en-US" sz="1400" dirty="0">
                <a:solidFill>
                  <a:schemeClr val="tx1"/>
                </a:solidFill>
              </a:rPr>
              <a:t>Crop-damage next-step guidance</a:t>
            </a:r>
            <a:endParaRPr lang="en-US" sz="1400" dirty="0"/>
          </a:p>
          <a:p>
            <a:pPr marL="342900" indent="-342900">
              <a:spcAft>
                <a:spcPts val="200"/>
              </a:spcAft>
              <a:buSzPct val="100000"/>
              <a:buChar char="•"/>
            </a:pPr>
            <a:r>
              <a:rPr lang="en-US" sz="1400" dirty="0">
                <a:solidFill>
                  <a:schemeClr val="tx1"/>
                </a:solidFill>
              </a:rPr>
              <a:t>Links to IMD, TN disaster agency, PMFBY</a:t>
            </a:r>
            <a:endParaRPr lang="en-US" sz="1400" dirty="0"/>
          </a:p>
        </p:txBody>
      </p:sp>
      <p:sp>
        <p:nvSpPr>
          <p:cNvPr id="10" name="Text 6"/>
          <p:cNvSpPr txBox="1"/>
          <p:nvPr/>
        </p:nvSpPr>
        <p:spPr>
          <a:xfrm>
            <a:off x="685800" y="6126480"/>
            <a:ext cx="5212080" cy="256032"/>
          </a:xfrm>
          <a:prstGeom prst="rect">
            <a:avLst/>
          </a:prstGeom>
          <a:noFill/>
          <a:ln/>
        </p:spPr>
        <p:txBody>
          <a:bodyPr wrap="square" lIns="0" tIns="0" rIns="0" bIns="0" rtlCol="0" anchor="ctr"/>
          <a:lstStyle/>
          <a:p>
            <a:pPr marL="0" indent="0">
              <a:buNone/>
            </a:pPr>
            <a:r>
              <a:rPr lang="en-US" sz="1200" i="1" dirty="0">
                <a:solidFill>
                  <a:srgbClr val="8A6416"/>
                </a:solidFill>
              </a:rPr>
              <a:t>Information hub — not a live alert feed.</a:t>
            </a:r>
            <a:endParaRPr lang="en-US" sz="1200" dirty="0"/>
          </a:p>
        </p:txBody>
      </p:sp>
      <p:sp>
        <p:nvSpPr>
          <p:cNvPr id="11" name="Shape 7"/>
          <p:cNvSpPr/>
          <p:nvPr/>
        </p:nvSpPr>
        <p:spPr>
          <a:xfrm>
            <a:off x="6291072" y="1371600"/>
            <a:ext cx="457200" cy="457200"/>
          </a:xfrm>
          <a:prstGeom prst="ellipse">
            <a:avLst/>
          </a:prstGeom>
          <a:solidFill>
            <a:schemeClr val="accent4"/>
          </a:solidFill>
          <a:ln w="12700">
            <a:solidFill>
              <a:schemeClr val="accent4"/>
            </a:solidFill>
            <a:prstDash val="solid"/>
          </a:ln>
        </p:spPr>
      </p:sp>
      <p:pic>
        <p:nvPicPr>
          <p:cNvPr id="12" name="Image 2" descr="icon"/>
          <p:cNvPicPr>
            <a:picLocks noChangeAspect="1"/>
          </p:cNvPicPr>
          <p:nvPr/>
        </p:nvPicPr>
        <p:blipFill>
          <a:blip r:embed="rId5"/>
          <a:stretch>
            <a:fillRect/>
          </a:stretch>
        </p:blipFill>
        <p:spPr>
          <a:xfrm>
            <a:off x="6400800" y="1481328"/>
            <a:ext cx="237744" cy="237744"/>
          </a:xfrm>
          <a:prstGeom prst="rect">
            <a:avLst/>
          </a:prstGeom>
        </p:spPr>
      </p:pic>
      <p:sp>
        <p:nvSpPr>
          <p:cNvPr id="13" name="Text 8"/>
          <p:cNvSpPr txBox="1"/>
          <p:nvPr/>
        </p:nvSpPr>
        <p:spPr>
          <a:xfrm>
            <a:off x="6885432" y="1371600"/>
            <a:ext cx="4572000" cy="457200"/>
          </a:xfrm>
          <a:prstGeom prst="rect">
            <a:avLst/>
          </a:prstGeom>
          <a:noFill/>
          <a:ln/>
        </p:spPr>
        <p:txBody>
          <a:bodyPr wrap="square" lIns="0" tIns="0" rIns="0" bIns="0" rtlCol="0" anchor="ctr"/>
          <a:lstStyle/>
          <a:p>
            <a:pPr marL="0" indent="0">
              <a:buNone/>
            </a:pPr>
            <a:r>
              <a:rPr lang="en-US" sz="2000" b="1" dirty="0">
                <a:solidFill>
                  <a:schemeClr val="tx2"/>
                </a:solidFill>
              </a:rPr>
              <a:t>Government scheme finder</a:t>
            </a:r>
            <a:endParaRPr lang="en-US" sz="2000" dirty="0"/>
          </a:p>
        </p:txBody>
      </p:sp>
      <p:sp>
        <p:nvSpPr>
          <p:cNvPr id="14" name="Government scheme finder screenshot frame"/>
          <p:cNvSpPr/>
          <p:nvPr/>
        </p:nvSpPr>
        <p:spPr>
          <a:xfrm>
            <a:off x="6355080" y="1938528"/>
            <a:ext cx="5266944" cy="2929261"/>
          </a:xfrm>
          <a:prstGeom prst="roundRect">
            <a:avLst>
              <a:gd name="adj" fmla="val 3746"/>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15" name="Government scheme finder screenshot" descr="Government scheme finder screenshot"/>
          <p:cNvPicPr>
            <a:picLocks noChangeAspect="1"/>
          </p:cNvPicPr>
          <p:nvPr/>
        </p:nvPicPr>
        <p:blipFill>
          <a:blip r:embed="rId6"/>
          <a:stretch>
            <a:fillRect/>
          </a:stretch>
        </p:blipFill>
        <p:spPr>
          <a:xfrm>
            <a:off x="6428232" y="2011680"/>
            <a:ext cx="5120640" cy="2782957"/>
          </a:xfrm>
          <a:prstGeom prst="rect">
            <a:avLst/>
          </a:prstGeom>
        </p:spPr>
      </p:pic>
      <p:sp>
        <p:nvSpPr>
          <p:cNvPr id="16" name="Text 10"/>
          <p:cNvSpPr txBox="1"/>
          <p:nvPr/>
        </p:nvSpPr>
        <p:spPr>
          <a:xfrm>
            <a:off x="6428232" y="5349240"/>
            <a:ext cx="5212080" cy="777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Search plus Central / Tamil Nadu filters</a:t>
            </a:r>
            <a:endParaRPr lang="en-US" sz="1400" dirty="0"/>
          </a:p>
          <a:p>
            <a:pPr marL="342900" indent="-342900">
              <a:spcAft>
                <a:spcPts val="200"/>
              </a:spcAft>
              <a:buSzPct val="100000"/>
              <a:buChar char="•"/>
            </a:pPr>
            <a:r>
              <a:rPr lang="en-US" sz="1400" dirty="0">
                <a:solidFill>
                  <a:schemeClr val="tx1"/>
                </a:solidFill>
              </a:rPr>
              <a:t>Eligibility and document guidance</a:t>
            </a:r>
            <a:endParaRPr lang="en-US" sz="1400" dirty="0"/>
          </a:p>
          <a:p>
            <a:pPr marL="342900" indent="-342900">
              <a:spcAft>
                <a:spcPts val="200"/>
              </a:spcAft>
              <a:buSzPct val="100000"/>
              <a:buChar char="•"/>
            </a:pPr>
            <a:r>
              <a:rPr lang="en-US" sz="1400" dirty="0">
                <a:solidFill>
                  <a:schemeClr val="tx1"/>
                </a:solidFill>
              </a:rPr>
              <a:t>Official portal link on every card</a:t>
            </a:r>
            <a:endParaRPr lang="en-US" sz="1400" dirty="0"/>
          </a:p>
        </p:txBody>
      </p:sp>
      <p:sp>
        <p:nvSpPr>
          <p:cNvPr id="17" name="Text 11"/>
          <p:cNvSpPr txBox="1"/>
          <p:nvPr/>
        </p:nvSpPr>
        <p:spPr>
          <a:xfrm>
            <a:off x="6428232" y="6126480"/>
            <a:ext cx="5212080" cy="256032"/>
          </a:xfrm>
          <a:prstGeom prst="rect">
            <a:avLst/>
          </a:prstGeom>
          <a:noFill/>
          <a:ln/>
        </p:spPr>
        <p:txBody>
          <a:bodyPr wrap="square" lIns="0" tIns="0" rIns="0" bIns="0" rtlCol="0" anchor="ctr"/>
          <a:lstStyle/>
          <a:p>
            <a:pPr marL="0" indent="0">
              <a:buNone/>
            </a:pPr>
            <a:r>
              <a:rPr lang="en-US" sz="1200" i="1" dirty="0">
                <a:solidFill>
                  <a:srgbClr val="8A6416"/>
                </a:solidFill>
              </a:rPr>
              <a:t>Starter guide — verify rules on official sites.</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GRIEVANCE &amp; LANGUAGE</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Grievance drafting &amp; multilingual help</a:t>
            </a:r>
            <a:endParaRPr lang="en-US" sz="3400" dirty="0"/>
          </a:p>
        </p:txBody>
      </p:sp>
      <p:sp>
        <p:nvSpPr>
          <p:cNvPr id="4" name="Grievance assistant screenshot frame"/>
          <p:cNvSpPr/>
          <p:nvPr/>
        </p:nvSpPr>
        <p:spPr>
          <a:xfrm>
            <a:off x="457200" y="1371600"/>
            <a:ext cx="4297680" cy="2859622"/>
          </a:xfrm>
          <a:prstGeom prst="roundRect">
            <a:avLst>
              <a:gd name="adj" fmla="val 3837"/>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5" name="Grievance assistant screenshot" descr="Grievance assistant screenshot"/>
          <p:cNvPicPr>
            <a:picLocks noChangeAspect="1"/>
          </p:cNvPicPr>
          <p:nvPr/>
        </p:nvPicPr>
        <p:blipFill>
          <a:blip r:embed="rId3"/>
          <a:stretch>
            <a:fillRect/>
          </a:stretch>
        </p:blipFill>
        <p:spPr>
          <a:xfrm>
            <a:off x="530352" y="1444752"/>
            <a:ext cx="4151376" cy="2713318"/>
          </a:xfrm>
          <a:prstGeom prst="rect">
            <a:avLst/>
          </a:prstGeom>
        </p:spPr>
      </p:pic>
      <p:sp>
        <p:nvSpPr>
          <p:cNvPr id="6" name="Language assistant screenshot in Tamil frame"/>
          <p:cNvSpPr/>
          <p:nvPr/>
        </p:nvSpPr>
        <p:spPr>
          <a:xfrm>
            <a:off x="4882896" y="1371600"/>
            <a:ext cx="4297680" cy="2474614"/>
          </a:xfrm>
          <a:prstGeom prst="roundRect">
            <a:avLst>
              <a:gd name="adj" fmla="val 4434"/>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7" name="Language assistant screenshot in Tamil" descr="Language assistant screenshot in Tamil"/>
          <p:cNvPicPr>
            <a:picLocks noChangeAspect="1"/>
          </p:cNvPicPr>
          <p:nvPr/>
        </p:nvPicPr>
        <p:blipFill>
          <a:blip r:embed="rId4"/>
          <a:stretch>
            <a:fillRect/>
          </a:stretch>
        </p:blipFill>
        <p:spPr>
          <a:xfrm>
            <a:off x="4956048" y="1444752"/>
            <a:ext cx="4151376" cy="2328310"/>
          </a:xfrm>
          <a:prstGeom prst="rect">
            <a:avLst/>
          </a:prstGeom>
        </p:spPr>
      </p:pic>
      <p:sp>
        <p:nvSpPr>
          <p:cNvPr id="8" name="Text 4"/>
          <p:cNvSpPr txBox="1"/>
          <p:nvPr/>
        </p:nvSpPr>
        <p:spPr>
          <a:xfrm>
            <a:off x="457200" y="4224528"/>
            <a:ext cx="4297680" cy="274320"/>
          </a:xfrm>
          <a:prstGeom prst="rect">
            <a:avLst/>
          </a:prstGeom>
          <a:noFill/>
          <a:ln/>
        </p:spPr>
        <p:txBody>
          <a:bodyPr wrap="square" lIns="0" tIns="0" rIns="0" bIns="0" rtlCol="0" anchor="ctr"/>
          <a:lstStyle/>
          <a:p>
            <a:pPr marL="0" indent="0">
              <a:buNone/>
            </a:pPr>
            <a:r>
              <a:rPr lang="en-US" sz="1200" i="1" dirty="0">
                <a:solidFill>
                  <a:srgbClr val="4F6558"/>
                </a:solidFill>
              </a:rPr>
              <a:t>Grievance assistant: editable draft</a:t>
            </a:r>
            <a:endParaRPr lang="en-US" sz="1200" dirty="0"/>
          </a:p>
        </p:txBody>
      </p:sp>
      <p:sp>
        <p:nvSpPr>
          <p:cNvPr id="9" name="Text 5"/>
          <p:cNvSpPr txBox="1"/>
          <p:nvPr/>
        </p:nvSpPr>
        <p:spPr>
          <a:xfrm>
            <a:off x="4882896" y="4224528"/>
            <a:ext cx="4297680" cy="274320"/>
          </a:xfrm>
          <a:prstGeom prst="rect">
            <a:avLst/>
          </a:prstGeom>
          <a:noFill/>
          <a:ln/>
        </p:spPr>
        <p:txBody>
          <a:bodyPr wrap="square" lIns="0" tIns="0" rIns="0" bIns="0" rtlCol="0" anchor="ctr"/>
          <a:lstStyle/>
          <a:p>
            <a:pPr marL="0" indent="0">
              <a:buNone/>
            </a:pPr>
            <a:r>
              <a:rPr lang="en-US" sz="1200" i="1" dirty="0">
                <a:solidFill>
                  <a:srgbClr val="4F6558"/>
                </a:solidFill>
              </a:rPr>
              <a:t>Language assistant: Tamil interface</a:t>
            </a:r>
            <a:endParaRPr lang="en-US" sz="1200" dirty="0"/>
          </a:p>
        </p:txBody>
      </p:sp>
      <p:sp>
        <p:nvSpPr>
          <p:cNvPr id="10" name="Editable drafts"/>
          <p:cNvSpPr/>
          <p:nvPr/>
        </p:nvSpPr>
        <p:spPr>
          <a:xfrm>
            <a:off x="9464040" y="1371600"/>
            <a:ext cx="2286000" cy="914400"/>
          </a:xfrm>
          <a:prstGeom prst="roundRect">
            <a:avLst>
              <a:gd name="adj" fmla="val 12000"/>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11" name="Shape 7"/>
          <p:cNvSpPr/>
          <p:nvPr/>
        </p:nvSpPr>
        <p:spPr>
          <a:xfrm>
            <a:off x="9573768" y="1600200"/>
            <a:ext cx="457200" cy="457200"/>
          </a:xfrm>
          <a:prstGeom prst="ellipse">
            <a:avLst/>
          </a:prstGeom>
          <a:solidFill>
            <a:schemeClr val="accent4"/>
          </a:solidFill>
          <a:ln w="12700">
            <a:solidFill>
              <a:schemeClr val="accent4"/>
            </a:solidFill>
            <a:prstDash val="solid"/>
          </a:ln>
        </p:spPr>
      </p:sp>
      <p:pic>
        <p:nvPicPr>
          <p:cNvPr id="12" name="Image 2" descr="icon"/>
          <p:cNvPicPr>
            <a:picLocks noChangeAspect="1"/>
          </p:cNvPicPr>
          <p:nvPr/>
        </p:nvPicPr>
        <p:blipFill>
          <a:blip r:embed="rId5"/>
          <a:stretch>
            <a:fillRect/>
          </a:stretch>
        </p:blipFill>
        <p:spPr>
          <a:xfrm>
            <a:off x="9683496" y="1709928"/>
            <a:ext cx="237744" cy="237744"/>
          </a:xfrm>
          <a:prstGeom prst="rect">
            <a:avLst/>
          </a:prstGeom>
        </p:spPr>
      </p:pic>
      <p:sp>
        <p:nvSpPr>
          <p:cNvPr id="13" name="Text 8"/>
          <p:cNvSpPr txBox="1"/>
          <p:nvPr/>
        </p:nvSpPr>
        <p:spPr>
          <a:xfrm>
            <a:off x="10104120" y="1463040"/>
            <a:ext cx="1600200" cy="411480"/>
          </a:xfrm>
          <a:prstGeom prst="rect">
            <a:avLst/>
          </a:prstGeom>
          <a:noFill/>
          <a:ln/>
        </p:spPr>
        <p:txBody>
          <a:bodyPr wrap="square" lIns="0" tIns="0" rIns="0" bIns="0" rtlCol="0" anchor="ctr"/>
          <a:lstStyle/>
          <a:p>
            <a:pPr marL="0" indent="0">
              <a:buNone/>
            </a:pPr>
            <a:r>
              <a:rPr lang="en-US" sz="1400" b="1" dirty="0">
                <a:solidFill>
                  <a:schemeClr val="tx2"/>
                </a:solidFill>
              </a:rPr>
              <a:t>Editable drafts</a:t>
            </a:r>
            <a:endParaRPr lang="en-US" sz="1400" dirty="0"/>
          </a:p>
        </p:txBody>
      </p:sp>
      <p:sp>
        <p:nvSpPr>
          <p:cNvPr id="14" name="Text 9"/>
          <p:cNvSpPr txBox="1"/>
          <p:nvPr/>
        </p:nvSpPr>
        <p:spPr>
          <a:xfrm>
            <a:off x="10104120" y="1847088"/>
            <a:ext cx="1600200" cy="365760"/>
          </a:xfrm>
          <a:prstGeom prst="rect">
            <a:avLst/>
          </a:prstGeom>
          <a:noFill/>
          <a:ln/>
        </p:spPr>
        <p:txBody>
          <a:bodyPr wrap="square" lIns="0" tIns="0" rIns="0" bIns="0" rtlCol="0" anchor="t"/>
          <a:lstStyle/>
          <a:p>
            <a:pPr marL="0" indent="0">
              <a:buNone/>
            </a:pPr>
            <a:r>
              <a:rPr lang="en-US" sz="1200" dirty="0">
                <a:solidFill>
                  <a:srgbClr val="4F6558"/>
                </a:solidFill>
              </a:rPr>
              <a:t>Review, edit, copy</a:t>
            </a:r>
            <a:endParaRPr lang="en-US" sz="1200" dirty="0"/>
          </a:p>
        </p:txBody>
      </p:sp>
      <p:sp>
        <p:nvSpPr>
          <p:cNvPr id="15" name="EN · தமிழ் · हिन्दी"/>
          <p:cNvSpPr/>
          <p:nvPr/>
        </p:nvSpPr>
        <p:spPr>
          <a:xfrm>
            <a:off x="9464040" y="2423160"/>
            <a:ext cx="2286000" cy="914400"/>
          </a:xfrm>
          <a:prstGeom prst="roundRect">
            <a:avLst>
              <a:gd name="adj" fmla="val 12000"/>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16" name="Shape 11"/>
          <p:cNvSpPr/>
          <p:nvPr/>
        </p:nvSpPr>
        <p:spPr>
          <a:xfrm>
            <a:off x="9573768" y="2651760"/>
            <a:ext cx="457200" cy="457200"/>
          </a:xfrm>
          <a:prstGeom prst="ellipse">
            <a:avLst/>
          </a:prstGeom>
          <a:solidFill>
            <a:schemeClr val="accent4"/>
          </a:solidFill>
          <a:ln w="12700">
            <a:solidFill>
              <a:schemeClr val="accent4"/>
            </a:solidFill>
            <a:prstDash val="solid"/>
          </a:ln>
        </p:spPr>
      </p:sp>
      <p:pic>
        <p:nvPicPr>
          <p:cNvPr id="17" name="Image 3" descr="icon"/>
          <p:cNvPicPr>
            <a:picLocks noChangeAspect="1"/>
          </p:cNvPicPr>
          <p:nvPr/>
        </p:nvPicPr>
        <p:blipFill>
          <a:blip r:embed="rId6"/>
          <a:stretch>
            <a:fillRect/>
          </a:stretch>
        </p:blipFill>
        <p:spPr>
          <a:xfrm>
            <a:off x="9683496" y="2761488"/>
            <a:ext cx="237744" cy="237744"/>
          </a:xfrm>
          <a:prstGeom prst="rect">
            <a:avLst/>
          </a:prstGeom>
        </p:spPr>
      </p:pic>
      <p:sp>
        <p:nvSpPr>
          <p:cNvPr id="18" name="Text 12"/>
          <p:cNvSpPr txBox="1"/>
          <p:nvPr/>
        </p:nvSpPr>
        <p:spPr>
          <a:xfrm>
            <a:off x="10104120" y="2514600"/>
            <a:ext cx="1600200" cy="411480"/>
          </a:xfrm>
          <a:prstGeom prst="rect">
            <a:avLst/>
          </a:prstGeom>
          <a:noFill/>
          <a:ln/>
        </p:spPr>
        <p:txBody>
          <a:bodyPr wrap="square" lIns="0" tIns="0" rIns="0" bIns="0" rtlCol="0" anchor="ctr"/>
          <a:lstStyle/>
          <a:p>
            <a:pPr marL="0" indent="0">
              <a:buNone/>
            </a:pPr>
            <a:r>
              <a:rPr lang="en-US" sz="1400" b="1" dirty="0">
                <a:solidFill>
                  <a:schemeClr val="tx2"/>
                </a:solidFill>
              </a:rPr>
              <a:t>EN · தமிழ் · हिन्दी</a:t>
            </a:r>
            <a:endParaRPr lang="en-US" sz="1400" dirty="0"/>
          </a:p>
        </p:txBody>
      </p:sp>
      <p:sp>
        <p:nvSpPr>
          <p:cNvPr id="19" name="Text 13"/>
          <p:cNvSpPr txBox="1"/>
          <p:nvPr/>
        </p:nvSpPr>
        <p:spPr>
          <a:xfrm>
            <a:off x="10104120" y="2898648"/>
            <a:ext cx="1600200" cy="365760"/>
          </a:xfrm>
          <a:prstGeom prst="rect">
            <a:avLst/>
          </a:prstGeom>
          <a:noFill/>
          <a:ln/>
        </p:spPr>
        <p:txBody>
          <a:bodyPr wrap="square" lIns="0" tIns="0" rIns="0" bIns="0" rtlCol="0" anchor="t"/>
          <a:lstStyle/>
          <a:p>
            <a:pPr marL="0" indent="0">
              <a:buNone/>
            </a:pPr>
            <a:r>
              <a:rPr lang="en-US" sz="1200" dirty="0">
                <a:solidFill>
                  <a:srgbClr val="4F6558"/>
                </a:solidFill>
              </a:rPr>
              <a:t>Interface labels</a:t>
            </a:r>
            <a:endParaRPr lang="en-US" sz="1200" dirty="0"/>
          </a:p>
        </p:txBody>
      </p:sp>
      <p:sp>
        <p:nvSpPr>
          <p:cNvPr id="20" name="Voice &amp; read-aloud"/>
          <p:cNvSpPr/>
          <p:nvPr/>
        </p:nvSpPr>
        <p:spPr>
          <a:xfrm>
            <a:off x="9464040" y="3474720"/>
            <a:ext cx="2286000" cy="914400"/>
          </a:xfrm>
          <a:prstGeom prst="roundRect">
            <a:avLst>
              <a:gd name="adj" fmla="val 12000"/>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21" name="Shape 15"/>
          <p:cNvSpPr/>
          <p:nvPr/>
        </p:nvSpPr>
        <p:spPr>
          <a:xfrm>
            <a:off x="9573768" y="3703320"/>
            <a:ext cx="457200" cy="457200"/>
          </a:xfrm>
          <a:prstGeom prst="ellipse">
            <a:avLst/>
          </a:prstGeom>
          <a:solidFill>
            <a:schemeClr val="accent4"/>
          </a:solidFill>
          <a:ln w="12700">
            <a:solidFill>
              <a:schemeClr val="accent4"/>
            </a:solidFill>
            <a:prstDash val="solid"/>
          </a:ln>
        </p:spPr>
      </p:sp>
      <p:pic>
        <p:nvPicPr>
          <p:cNvPr id="22" name="Image 4" descr="icon"/>
          <p:cNvPicPr>
            <a:picLocks noChangeAspect="1"/>
          </p:cNvPicPr>
          <p:nvPr/>
        </p:nvPicPr>
        <p:blipFill>
          <a:blip r:embed="rId7"/>
          <a:stretch>
            <a:fillRect/>
          </a:stretch>
        </p:blipFill>
        <p:spPr>
          <a:xfrm>
            <a:off x="9683496" y="3813048"/>
            <a:ext cx="237744" cy="237744"/>
          </a:xfrm>
          <a:prstGeom prst="rect">
            <a:avLst/>
          </a:prstGeom>
        </p:spPr>
      </p:pic>
      <p:sp>
        <p:nvSpPr>
          <p:cNvPr id="23" name="Text 16"/>
          <p:cNvSpPr txBox="1"/>
          <p:nvPr/>
        </p:nvSpPr>
        <p:spPr>
          <a:xfrm>
            <a:off x="10104120" y="3566160"/>
            <a:ext cx="1600200" cy="411480"/>
          </a:xfrm>
          <a:prstGeom prst="rect">
            <a:avLst/>
          </a:prstGeom>
          <a:noFill/>
          <a:ln/>
        </p:spPr>
        <p:txBody>
          <a:bodyPr wrap="square" lIns="0" tIns="0" rIns="0" bIns="0" rtlCol="0" anchor="ctr"/>
          <a:lstStyle/>
          <a:p>
            <a:pPr marL="0" indent="0">
              <a:buNone/>
            </a:pPr>
            <a:r>
              <a:rPr lang="en-US" sz="1400" b="1" dirty="0">
                <a:solidFill>
                  <a:schemeClr val="tx2"/>
                </a:solidFill>
              </a:rPr>
              <a:t>Voice &amp; read-aloud</a:t>
            </a:r>
            <a:endParaRPr lang="en-US" sz="1400" dirty="0"/>
          </a:p>
        </p:txBody>
      </p:sp>
      <p:sp>
        <p:nvSpPr>
          <p:cNvPr id="24" name="Text 17"/>
          <p:cNvSpPr txBox="1"/>
          <p:nvPr/>
        </p:nvSpPr>
        <p:spPr>
          <a:xfrm>
            <a:off x="10104120" y="3950208"/>
            <a:ext cx="1600200" cy="365760"/>
          </a:xfrm>
          <a:prstGeom prst="rect">
            <a:avLst/>
          </a:prstGeom>
          <a:noFill/>
          <a:ln/>
        </p:spPr>
        <p:txBody>
          <a:bodyPr wrap="square" lIns="0" tIns="0" rIns="0" bIns="0" rtlCol="0" anchor="t"/>
          <a:lstStyle/>
          <a:p>
            <a:pPr marL="0" indent="0">
              <a:buNone/>
            </a:pPr>
            <a:r>
              <a:rPr lang="en-US" sz="1200" dirty="0">
                <a:solidFill>
                  <a:srgbClr val="4F6558"/>
                </a:solidFill>
              </a:rPr>
              <a:t>Where browser supports</a:t>
            </a:r>
            <a:endParaRPr lang="en-US" sz="1200" dirty="0"/>
          </a:p>
        </p:txBody>
      </p:sp>
      <p:sp>
        <p:nvSpPr>
          <p:cNvPr id="25" name="Shape 18"/>
          <p:cNvSpPr/>
          <p:nvPr/>
        </p:nvSpPr>
        <p:spPr>
          <a:xfrm>
            <a:off x="548640" y="4617720"/>
            <a:ext cx="2514600" cy="960120"/>
          </a:xfrm>
          <a:prstGeom prst="roundRect">
            <a:avLst>
              <a:gd name="adj" fmla="val 11429"/>
            </a:avLst>
          </a:prstGeom>
          <a:solidFill>
            <a:schemeClr val="bg2"/>
          </a:solidFill>
          <a:ln w="12700">
            <a:solidFill>
              <a:srgbClr val="CFE0C2"/>
            </a:solidFill>
            <a:prstDash val="solid"/>
          </a:ln>
        </p:spPr>
      </p:sp>
      <p:sp>
        <p:nvSpPr>
          <p:cNvPr id="26" name="Shape 19"/>
          <p:cNvSpPr/>
          <p:nvPr/>
        </p:nvSpPr>
        <p:spPr>
          <a:xfrm>
            <a:off x="685800" y="4754880"/>
            <a:ext cx="365760" cy="365760"/>
          </a:xfrm>
          <a:prstGeom prst="ellipse">
            <a:avLst/>
          </a:prstGeom>
          <a:solidFill>
            <a:schemeClr val="accent4"/>
          </a:solidFill>
          <a:ln w="12700">
            <a:solidFill>
              <a:schemeClr val="accent4"/>
            </a:solidFill>
            <a:prstDash val="solid"/>
          </a:ln>
        </p:spPr>
      </p:sp>
      <p:sp>
        <p:nvSpPr>
          <p:cNvPr id="27" name="Text 20"/>
          <p:cNvSpPr txBox="1"/>
          <p:nvPr/>
        </p:nvSpPr>
        <p:spPr>
          <a:xfrm>
            <a:off x="685800" y="4754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8" name="Text 21"/>
          <p:cNvSpPr txBox="1"/>
          <p:nvPr/>
        </p:nvSpPr>
        <p:spPr>
          <a:xfrm>
            <a:off x="1143000" y="4681728"/>
            <a:ext cx="1828800" cy="822960"/>
          </a:xfrm>
          <a:prstGeom prst="rect">
            <a:avLst/>
          </a:prstGeom>
          <a:noFill/>
          <a:ln/>
        </p:spPr>
        <p:txBody>
          <a:bodyPr wrap="square" lIns="0" tIns="0" rIns="0" bIns="0" rtlCol="0" anchor="ctr"/>
          <a:lstStyle/>
          <a:p>
            <a:pPr marL="0" indent="0">
              <a:buNone/>
            </a:pPr>
            <a:r>
              <a:rPr lang="en-US" sz="1400" b="1" dirty="0">
                <a:solidFill>
                  <a:schemeClr val="tx2"/>
                </a:solidFill>
              </a:rPr>
              <a:t>Farmer describes an issue</a:t>
            </a:r>
            <a:endParaRPr lang="en-US" sz="1400" dirty="0"/>
          </a:p>
        </p:txBody>
      </p:sp>
      <p:pic>
        <p:nvPicPr>
          <p:cNvPr id="29" name="Image 5" descr="then"/>
          <p:cNvPicPr>
            <a:picLocks noChangeAspect="1"/>
          </p:cNvPicPr>
          <p:nvPr/>
        </p:nvPicPr>
        <p:blipFill>
          <a:blip r:embed="rId8"/>
          <a:stretch>
            <a:fillRect/>
          </a:stretch>
        </p:blipFill>
        <p:spPr>
          <a:xfrm>
            <a:off x="3081528" y="4937760"/>
            <a:ext cx="274320" cy="274320"/>
          </a:xfrm>
          <a:prstGeom prst="rect">
            <a:avLst/>
          </a:prstGeom>
        </p:spPr>
      </p:pic>
      <p:sp>
        <p:nvSpPr>
          <p:cNvPr id="30" name="Shape 22"/>
          <p:cNvSpPr/>
          <p:nvPr/>
        </p:nvSpPr>
        <p:spPr>
          <a:xfrm>
            <a:off x="3383280" y="4617720"/>
            <a:ext cx="2514600" cy="960120"/>
          </a:xfrm>
          <a:prstGeom prst="roundRect">
            <a:avLst>
              <a:gd name="adj" fmla="val 11429"/>
            </a:avLst>
          </a:prstGeom>
          <a:solidFill>
            <a:schemeClr val="bg2"/>
          </a:solidFill>
          <a:ln w="12700">
            <a:solidFill>
              <a:srgbClr val="CFE0C2"/>
            </a:solidFill>
            <a:prstDash val="solid"/>
          </a:ln>
        </p:spPr>
      </p:sp>
      <p:sp>
        <p:nvSpPr>
          <p:cNvPr id="31" name="Shape 23"/>
          <p:cNvSpPr/>
          <p:nvPr/>
        </p:nvSpPr>
        <p:spPr>
          <a:xfrm>
            <a:off x="3520440" y="4754880"/>
            <a:ext cx="365760" cy="365760"/>
          </a:xfrm>
          <a:prstGeom prst="ellipse">
            <a:avLst/>
          </a:prstGeom>
          <a:solidFill>
            <a:schemeClr val="accent4"/>
          </a:solidFill>
          <a:ln w="12700">
            <a:solidFill>
              <a:schemeClr val="accent4"/>
            </a:solidFill>
            <a:prstDash val="solid"/>
          </a:ln>
        </p:spPr>
      </p:sp>
      <p:sp>
        <p:nvSpPr>
          <p:cNvPr id="32" name="Text 24"/>
          <p:cNvSpPr txBox="1"/>
          <p:nvPr/>
        </p:nvSpPr>
        <p:spPr>
          <a:xfrm>
            <a:off x="3520440" y="4754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3" name="Text 25"/>
          <p:cNvSpPr txBox="1"/>
          <p:nvPr/>
        </p:nvSpPr>
        <p:spPr>
          <a:xfrm>
            <a:off x="3977640" y="4681728"/>
            <a:ext cx="1828800" cy="822960"/>
          </a:xfrm>
          <a:prstGeom prst="rect">
            <a:avLst/>
          </a:prstGeom>
          <a:noFill/>
          <a:ln/>
        </p:spPr>
        <p:txBody>
          <a:bodyPr wrap="square" lIns="0" tIns="0" rIns="0" bIns="0" rtlCol="0" anchor="ctr"/>
          <a:lstStyle/>
          <a:p>
            <a:pPr marL="0" indent="0">
              <a:buNone/>
            </a:pPr>
            <a:r>
              <a:rPr lang="en-US" sz="1400" b="1" dirty="0">
                <a:solidFill>
                  <a:schemeClr val="tx2"/>
                </a:solidFill>
              </a:rPr>
              <a:t>Platform prepares guidance or a draft</a:t>
            </a:r>
            <a:endParaRPr lang="en-US" sz="1400" dirty="0"/>
          </a:p>
        </p:txBody>
      </p:sp>
      <p:pic>
        <p:nvPicPr>
          <p:cNvPr id="34" name="Image 6" descr="then"/>
          <p:cNvPicPr>
            <a:picLocks noChangeAspect="1"/>
          </p:cNvPicPr>
          <p:nvPr/>
        </p:nvPicPr>
        <p:blipFill>
          <a:blip r:embed="rId8"/>
          <a:stretch>
            <a:fillRect/>
          </a:stretch>
        </p:blipFill>
        <p:spPr>
          <a:xfrm>
            <a:off x="5916168" y="4937760"/>
            <a:ext cx="274320" cy="274320"/>
          </a:xfrm>
          <a:prstGeom prst="rect">
            <a:avLst/>
          </a:prstGeom>
        </p:spPr>
      </p:pic>
      <p:sp>
        <p:nvSpPr>
          <p:cNvPr id="35" name="Shape 26"/>
          <p:cNvSpPr/>
          <p:nvPr/>
        </p:nvSpPr>
        <p:spPr>
          <a:xfrm>
            <a:off x="6217920" y="4617720"/>
            <a:ext cx="2514600" cy="960120"/>
          </a:xfrm>
          <a:prstGeom prst="roundRect">
            <a:avLst>
              <a:gd name="adj" fmla="val 11429"/>
            </a:avLst>
          </a:prstGeom>
          <a:solidFill>
            <a:schemeClr val="bg2"/>
          </a:solidFill>
          <a:ln w="12700">
            <a:solidFill>
              <a:srgbClr val="CFE0C2"/>
            </a:solidFill>
            <a:prstDash val="solid"/>
          </a:ln>
        </p:spPr>
      </p:sp>
      <p:sp>
        <p:nvSpPr>
          <p:cNvPr id="36" name="Shape 27"/>
          <p:cNvSpPr/>
          <p:nvPr/>
        </p:nvSpPr>
        <p:spPr>
          <a:xfrm>
            <a:off x="6355080" y="4754880"/>
            <a:ext cx="365760" cy="365760"/>
          </a:xfrm>
          <a:prstGeom prst="ellipse">
            <a:avLst/>
          </a:prstGeom>
          <a:solidFill>
            <a:schemeClr val="accent4"/>
          </a:solidFill>
          <a:ln w="12700">
            <a:solidFill>
              <a:schemeClr val="accent4"/>
            </a:solidFill>
            <a:prstDash val="solid"/>
          </a:ln>
        </p:spPr>
      </p:sp>
      <p:sp>
        <p:nvSpPr>
          <p:cNvPr id="37" name="Text 28"/>
          <p:cNvSpPr txBox="1"/>
          <p:nvPr/>
        </p:nvSpPr>
        <p:spPr>
          <a:xfrm>
            <a:off x="6355080" y="4754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8" name="Text 29"/>
          <p:cNvSpPr txBox="1"/>
          <p:nvPr/>
        </p:nvSpPr>
        <p:spPr>
          <a:xfrm>
            <a:off x="6812280" y="4681728"/>
            <a:ext cx="1828800" cy="822960"/>
          </a:xfrm>
          <a:prstGeom prst="rect">
            <a:avLst/>
          </a:prstGeom>
          <a:noFill/>
          <a:ln/>
        </p:spPr>
        <p:txBody>
          <a:bodyPr wrap="square" lIns="0" tIns="0" rIns="0" bIns="0" rtlCol="0" anchor="ctr"/>
          <a:lstStyle/>
          <a:p>
            <a:pPr marL="0" indent="0">
              <a:buNone/>
            </a:pPr>
            <a:r>
              <a:rPr lang="en-US" sz="1400" b="1" dirty="0">
                <a:solidFill>
                  <a:schemeClr val="tx2"/>
                </a:solidFill>
              </a:rPr>
              <a:t>Farmer reviews and edits it</a:t>
            </a:r>
            <a:endParaRPr lang="en-US" sz="1400" dirty="0"/>
          </a:p>
        </p:txBody>
      </p:sp>
      <p:pic>
        <p:nvPicPr>
          <p:cNvPr id="39" name="Image 7" descr="then"/>
          <p:cNvPicPr>
            <a:picLocks noChangeAspect="1"/>
          </p:cNvPicPr>
          <p:nvPr/>
        </p:nvPicPr>
        <p:blipFill>
          <a:blip r:embed="rId8"/>
          <a:stretch>
            <a:fillRect/>
          </a:stretch>
        </p:blipFill>
        <p:spPr>
          <a:xfrm>
            <a:off x="8750808" y="4937760"/>
            <a:ext cx="274320" cy="274320"/>
          </a:xfrm>
          <a:prstGeom prst="rect">
            <a:avLst/>
          </a:prstGeom>
        </p:spPr>
      </p:pic>
      <p:sp>
        <p:nvSpPr>
          <p:cNvPr id="40" name="Shape 30"/>
          <p:cNvSpPr/>
          <p:nvPr/>
        </p:nvSpPr>
        <p:spPr>
          <a:xfrm>
            <a:off x="9052560" y="4617720"/>
            <a:ext cx="2514600" cy="960120"/>
          </a:xfrm>
          <a:prstGeom prst="roundRect">
            <a:avLst>
              <a:gd name="adj" fmla="val 11429"/>
            </a:avLst>
          </a:prstGeom>
          <a:solidFill>
            <a:schemeClr val="accent6"/>
          </a:solidFill>
          <a:ln w="12700">
            <a:solidFill>
              <a:schemeClr val="accent2"/>
            </a:solidFill>
            <a:prstDash val="solid"/>
          </a:ln>
        </p:spPr>
      </p:sp>
      <p:sp>
        <p:nvSpPr>
          <p:cNvPr id="41" name="Shape 31"/>
          <p:cNvSpPr/>
          <p:nvPr/>
        </p:nvSpPr>
        <p:spPr>
          <a:xfrm>
            <a:off x="9189720" y="4754880"/>
            <a:ext cx="365760" cy="365760"/>
          </a:xfrm>
          <a:prstGeom prst="ellipse">
            <a:avLst/>
          </a:prstGeom>
          <a:solidFill>
            <a:schemeClr val="accent4"/>
          </a:solidFill>
          <a:ln w="12700">
            <a:solidFill>
              <a:schemeClr val="accent4"/>
            </a:solidFill>
            <a:prstDash val="solid"/>
          </a:ln>
        </p:spPr>
      </p:sp>
      <p:sp>
        <p:nvSpPr>
          <p:cNvPr id="42" name="Text 32"/>
          <p:cNvSpPr txBox="1"/>
          <p:nvPr/>
        </p:nvSpPr>
        <p:spPr>
          <a:xfrm>
            <a:off x="9189720" y="475488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43" name="Text 33"/>
          <p:cNvSpPr txBox="1"/>
          <p:nvPr/>
        </p:nvSpPr>
        <p:spPr>
          <a:xfrm>
            <a:off x="9646920" y="4681728"/>
            <a:ext cx="1828800" cy="822960"/>
          </a:xfrm>
          <a:prstGeom prst="rect">
            <a:avLst/>
          </a:prstGeom>
          <a:noFill/>
          <a:ln/>
        </p:spPr>
        <p:txBody>
          <a:bodyPr wrap="square" lIns="0" tIns="0" rIns="0" bIns="0" rtlCol="0" anchor="ctr"/>
          <a:lstStyle/>
          <a:p>
            <a:pPr marL="0" indent="0">
              <a:buNone/>
            </a:pPr>
            <a:r>
              <a:rPr lang="en-US" sz="1400" b="1" dirty="0">
                <a:solidFill>
                  <a:schemeClr val="tx2"/>
                </a:solidFill>
              </a:rPr>
              <a:t>Farmer submits via the official channel</a:t>
            </a:r>
            <a:endParaRPr lang="en-US" sz="1400" dirty="0"/>
          </a:p>
        </p:txBody>
      </p:sp>
      <p:sp>
        <p:nvSpPr>
          <p:cNvPr id="44" name="Shape 34"/>
          <p:cNvSpPr/>
          <p:nvPr/>
        </p:nvSpPr>
        <p:spPr>
          <a:xfrm>
            <a:off x="548640" y="5760720"/>
            <a:ext cx="11201400" cy="502920"/>
          </a:xfrm>
          <a:prstGeom prst="roundRect">
            <a:avLst>
              <a:gd name="adj" fmla="val 18182"/>
            </a:avLst>
          </a:prstGeom>
          <a:solidFill>
            <a:schemeClr val="accent6"/>
          </a:solidFill>
          <a:ln w="12700">
            <a:solidFill>
              <a:schemeClr val="accent2"/>
            </a:solidFill>
            <a:prstDash val="solid"/>
          </a:ln>
        </p:spPr>
      </p:sp>
      <p:pic>
        <p:nvPicPr>
          <p:cNvPr id="45" name="Image 8" descr="note"/>
          <p:cNvPicPr>
            <a:picLocks noChangeAspect="1"/>
          </p:cNvPicPr>
          <p:nvPr/>
        </p:nvPicPr>
        <p:blipFill>
          <a:blip r:embed="rId9"/>
          <a:stretch>
            <a:fillRect/>
          </a:stretch>
        </p:blipFill>
        <p:spPr>
          <a:xfrm>
            <a:off x="731520" y="5879592"/>
            <a:ext cx="274320" cy="274320"/>
          </a:xfrm>
          <a:prstGeom prst="rect">
            <a:avLst/>
          </a:prstGeom>
        </p:spPr>
      </p:pic>
      <p:sp>
        <p:nvSpPr>
          <p:cNvPr id="46" name="Text 35"/>
          <p:cNvSpPr txBox="1"/>
          <p:nvPr/>
        </p:nvSpPr>
        <p:spPr>
          <a:xfrm>
            <a:off x="1143000" y="5760720"/>
            <a:ext cx="10424160" cy="502920"/>
          </a:xfrm>
          <a:prstGeom prst="rect">
            <a:avLst/>
          </a:prstGeom>
          <a:noFill/>
          <a:ln/>
        </p:spPr>
        <p:txBody>
          <a:bodyPr wrap="square" lIns="0" tIns="0" rIns="0" bIns="0" rtlCol="0" anchor="ctr"/>
          <a:lstStyle/>
          <a:p>
            <a:pPr marL="0" indent="0">
              <a:buNone/>
            </a:pPr>
            <a:r>
              <a:rPr lang="en-US" sz="1400" b="1" dirty="0">
                <a:solidFill>
                  <a:srgbClr val="6B4F10"/>
                </a:solidFill>
              </a:rPr>
              <a:t>Complaints are NOT submitted automatically — the farmer always files through the official channel.</a:t>
            </a:r>
            <a:endParaRPr lang="en-US" sz="1400" dirty="0"/>
          </a:p>
        </p:txBody>
      </p:sp>
      <p:sp>
        <p:nvSpPr>
          <p:cNvPr id="47"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TECHNOLOGY</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Technology &amp; system architecture</a:t>
            </a:r>
            <a:endParaRPr lang="en-US" sz="3400" dirty="0"/>
          </a:p>
        </p:txBody>
      </p:sp>
      <p:sp>
        <p:nvSpPr>
          <p:cNvPr id="4" name="Shape 2"/>
          <p:cNvSpPr/>
          <p:nvPr/>
        </p:nvSpPr>
        <p:spPr>
          <a:xfrm>
            <a:off x="548640" y="1554480"/>
            <a:ext cx="1737360" cy="1737360"/>
          </a:xfrm>
          <a:prstGeom prst="roundRect">
            <a:avLst>
              <a:gd name="adj" fmla="val 6316"/>
            </a:avLst>
          </a:prstGeom>
          <a:solidFill>
            <a:schemeClr val="tx2"/>
          </a:solidFill>
          <a:ln w="12700">
            <a:solidFill>
              <a:schemeClr val="tx2"/>
            </a:solidFill>
            <a:prstDash val="solid"/>
          </a:ln>
          <a:effectLst>
            <a:outerShdw blurRad="127000" dist="25400" dir="5400000" algn="bl" rotWithShape="0">
              <a:srgbClr val="0E2E20">
                <a:alpha val="18000"/>
              </a:srgbClr>
            </a:outerShdw>
          </a:effectLst>
        </p:spPr>
      </p:sp>
      <p:pic>
        <p:nvPicPr>
          <p:cNvPr id="5" name="Image 0" descr="Farmer"/>
          <p:cNvPicPr>
            <a:picLocks noChangeAspect="1"/>
          </p:cNvPicPr>
          <p:nvPr/>
        </p:nvPicPr>
        <p:blipFill>
          <a:blip r:embed="rId3"/>
          <a:stretch>
            <a:fillRect/>
          </a:stretch>
        </p:blipFill>
        <p:spPr>
          <a:xfrm>
            <a:off x="1234440" y="1691640"/>
            <a:ext cx="365760" cy="365760"/>
          </a:xfrm>
          <a:prstGeom prst="rect">
            <a:avLst/>
          </a:prstGeom>
        </p:spPr>
      </p:pic>
      <p:sp>
        <p:nvSpPr>
          <p:cNvPr id="6" name="Text 3"/>
          <p:cNvSpPr txBox="1"/>
          <p:nvPr/>
        </p:nvSpPr>
        <p:spPr>
          <a:xfrm>
            <a:off x="640080" y="2084832"/>
            <a:ext cx="1554480" cy="365760"/>
          </a:xfrm>
          <a:prstGeom prst="rect">
            <a:avLst/>
          </a:prstGeom>
          <a:noFill/>
          <a:ln/>
        </p:spPr>
        <p:txBody>
          <a:bodyPr wrap="square" lIns="0" tIns="0" rIns="0" bIns="0" rtlCol="0" anchor="ctr"/>
          <a:lstStyle/>
          <a:p>
            <a:pPr marL="0" indent="0" algn="ctr">
              <a:buNone/>
            </a:pPr>
            <a:r>
              <a:rPr lang="en-US" sz="1600" b="1" dirty="0">
                <a:solidFill>
                  <a:schemeClr val="bg1"/>
                </a:solidFill>
              </a:rPr>
              <a:t>Farmer</a:t>
            </a:r>
            <a:endParaRPr lang="en-US" sz="1600" dirty="0"/>
          </a:p>
        </p:txBody>
      </p:sp>
      <p:sp>
        <p:nvSpPr>
          <p:cNvPr id="7" name="Text 4"/>
          <p:cNvSpPr txBox="1"/>
          <p:nvPr/>
        </p:nvSpPr>
        <p:spPr>
          <a:xfrm>
            <a:off x="640080" y="2450592"/>
            <a:ext cx="1554480" cy="822960"/>
          </a:xfrm>
          <a:prstGeom prst="rect">
            <a:avLst/>
          </a:prstGeom>
          <a:noFill/>
          <a:ln/>
        </p:spPr>
        <p:txBody>
          <a:bodyPr wrap="square" lIns="0" tIns="0" rIns="0" bIns="0" rtlCol="0" anchor="t"/>
          <a:lstStyle/>
          <a:p>
            <a:pPr marL="0" indent="0" algn="ctr">
              <a:buNone/>
            </a:pPr>
            <a:r>
              <a:rPr lang="en-US" sz="1200" dirty="0">
                <a:solidFill>
                  <a:srgbClr val="DCEBCB"/>
                </a:solidFill>
              </a:rPr>
              <a:t>Phone or PC browser</a:t>
            </a:r>
            <a:endParaRPr lang="en-US" sz="1200" dirty="0"/>
          </a:p>
        </p:txBody>
      </p:sp>
      <p:sp>
        <p:nvSpPr>
          <p:cNvPr id="8" name="Shape 5"/>
          <p:cNvSpPr/>
          <p:nvPr/>
        </p:nvSpPr>
        <p:spPr>
          <a:xfrm>
            <a:off x="2743200" y="1554480"/>
            <a:ext cx="2468880" cy="1737360"/>
          </a:xfrm>
          <a:prstGeom prst="roundRect">
            <a:avLst>
              <a:gd name="adj" fmla="val 6316"/>
            </a:avLst>
          </a:prstGeom>
          <a:solidFill>
            <a:schemeClr val="accent4"/>
          </a:solidFill>
          <a:ln w="12700">
            <a:solidFill>
              <a:schemeClr val="accent4"/>
            </a:solidFill>
            <a:prstDash val="solid"/>
          </a:ln>
          <a:effectLst>
            <a:outerShdw blurRad="127000" dist="25400" dir="5400000" algn="bl" rotWithShape="0">
              <a:srgbClr val="0E2E20">
                <a:alpha val="18000"/>
              </a:srgbClr>
            </a:outerShdw>
          </a:effectLst>
        </p:spPr>
      </p:sp>
      <p:pic>
        <p:nvPicPr>
          <p:cNvPr id="9" name="Image 1" descr="Responsive Web UI"/>
          <p:cNvPicPr>
            <a:picLocks noChangeAspect="1"/>
          </p:cNvPicPr>
          <p:nvPr/>
        </p:nvPicPr>
        <p:blipFill>
          <a:blip r:embed="rId4"/>
          <a:stretch>
            <a:fillRect/>
          </a:stretch>
        </p:blipFill>
        <p:spPr>
          <a:xfrm>
            <a:off x="3794760" y="1691640"/>
            <a:ext cx="365760" cy="365760"/>
          </a:xfrm>
          <a:prstGeom prst="rect">
            <a:avLst/>
          </a:prstGeom>
        </p:spPr>
      </p:pic>
      <p:sp>
        <p:nvSpPr>
          <p:cNvPr id="10" name="Text 6"/>
          <p:cNvSpPr txBox="1"/>
          <p:nvPr/>
        </p:nvSpPr>
        <p:spPr>
          <a:xfrm>
            <a:off x="2834640" y="2084832"/>
            <a:ext cx="2286000" cy="365760"/>
          </a:xfrm>
          <a:prstGeom prst="rect">
            <a:avLst/>
          </a:prstGeom>
          <a:noFill/>
          <a:ln/>
        </p:spPr>
        <p:txBody>
          <a:bodyPr wrap="square" lIns="0" tIns="0" rIns="0" bIns="0" rtlCol="0" anchor="ctr"/>
          <a:lstStyle/>
          <a:p>
            <a:pPr marL="0" indent="0" algn="ctr">
              <a:buNone/>
            </a:pPr>
            <a:r>
              <a:rPr lang="en-US" sz="1600" b="1" dirty="0">
                <a:solidFill>
                  <a:schemeClr val="bg1"/>
                </a:solidFill>
              </a:rPr>
              <a:t>Responsive Web UI</a:t>
            </a:r>
            <a:endParaRPr lang="en-US" sz="1600" dirty="0"/>
          </a:p>
        </p:txBody>
      </p:sp>
      <p:sp>
        <p:nvSpPr>
          <p:cNvPr id="11" name="Text 7"/>
          <p:cNvSpPr txBox="1"/>
          <p:nvPr/>
        </p:nvSpPr>
        <p:spPr>
          <a:xfrm>
            <a:off x="2834640" y="2450592"/>
            <a:ext cx="2286000" cy="822960"/>
          </a:xfrm>
          <a:prstGeom prst="rect">
            <a:avLst/>
          </a:prstGeom>
          <a:noFill/>
          <a:ln/>
        </p:spPr>
        <p:txBody>
          <a:bodyPr wrap="square" lIns="0" tIns="0" rIns="0" bIns="0" rtlCol="0" anchor="t"/>
          <a:lstStyle/>
          <a:p>
            <a:pPr marL="0" indent="0" algn="ctr">
              <a:buNone/>
            </a:pPr>
            <a:r>
              <a:rPr lang="en-US" sz="1200" dirty="0">
                <a:solidFill>
                  <a:srgbClr val="DCEBCB"/>
                </a:solidFill>
              </a:rPr>
              <a:t>React + Vite, custom CSS</a:t>
            </a:r>
            <a:endParaRPr lang="en-US" sz="1200" dirty="0"/>
          </a:p>
        </p:txBody>
      </p:sp>
      <p:sp>
        <p:nvSpPr>
          <p:cNvPr id="12" name="Shape 8"/>
          <p:cNvSpPr/>
          <p:nvPr/>
        </p:nvSpPr>
        <p:spPr>
          <a:xfrm>
            <a:off x="5669280" y="1554480"/>
            <a:ext cx="2468880" cy="1737360"/>
          </a:xfrm>
          <a:prstGeom prst="roundRect">
            <a:avLst>
              <a:gd name="adj" fmla="val 6316"/>
            </a:avLst>
          </a:prstGeom>
          <a:solidFill>
            <a:schemeClr val="accent1"/>
          </a:solidFill>
          <a:ln w="12700">
            <a:solidFill>
              <a:schemeClr val="accent1"/>
            </a:solidFill>
            <a:prstDash val="solid"/>
          </a:ln>
          <a:effectLst>
            <a:outerShdw blurRad="127000" dist="25400" dir="5400000" algn="bl" rotWithShape="0">
              <a:srgbClr val="0E2E20">
                <a:alpha val="18000"/>
              </a:srgbClr>
            </a:outerShdw>
          </a:effectLst>
        </p:spPr>
      </p:sp>
      <p:pic>
        <p:nvPicPr>
          <p:cNvPr id="13" name="Image 2" descr="Feature Modules"/>
          <p:cNvPicPr>
            <a:picLocks noChangeAspect="1"/>
          </p:cNvPicPr>
          <p:nvPr/>
        </p:nvPicPr>
        <p:blipFill>
          <a:blip r:embed="rId5"/>
          <a:stretch>
            <a:fillRect/>
          </a:stretch>
        </p:blipFill>
        <p:spPr>
          <a:xfrm>
            <a:off x="6720840" y="1691640"/>
            <a:ext cx="365760" cy="365760"/>
          </a:xfrm>
          <a:prstGeom prst="rect">
            <a:avLst/>
          </a:prstGeom>
        </p:spPr>
      </p:pic>
      <p:sp>
        <p:nvSpPr>
          <p:cNvPr id="14" name="Text 9"/>
          <p:cNvSpPr txBox="1"/>
          <p:nvPr/>
        </p:nvSpPr>
        <p:spPr>
          <a:xfrm>
            <a:off x="5760720" y="2084832"/>
            <a:ext cx="2286000" cy="365760"/>
          </a:xfrm>
          <a:prstGeom prst="rect">
            <a:avLst/>
          </a:prstGeom>
          <a:noFill/>
          <a:ln/>
        </p:spPr>
        <p:txBody>
          <a:bodyPr wrap="square" lIns="0" tIns="0" rIns="0" bIns="0" rtlCol="0" anchor="ctr"/>
          <a:lstStyle/>
          <a:p>
            <a:pPr marL="0" indent="0" algn="ctr">
              <a:buNone/>
            </a:pPr>
            <a:r>
              <a:rPr lang="en-US" sz="1600" b="1" dirty="0">
                <a:solidFill>
                  <a:schemeClr val="bg1"/>
                </a:solidFill>
              </a:rPr>
              <a:t>Feature Modules</a:t>
            </a:r>
            <a:endParaRPr lang="en-US" sz="1600" dirty="0"/>
          </a:p>
        </p:txBody>
      </p:sp>
      <p:sp>
        <p:nvSpPr>
          <p:cNvPr id="15" name="Text 10"/>
          <p:cNvSpPr txBox="1"/>
          <p:nvPr/>
        </p:nvSpPr>
        <p:spPr>
          <a:xfrm>
            <a:off x="5760720" y="2450592"/>
            <a:ext cx="2286000" cy="822960"/>
          </a:xfrm>
          <a:prstGeom prst="rect">
            <a:avLst/>
          </a:prstGeom>
          <a:noFill/>
          <a:ln/>
        </p:spPr>
        <p:txBody>
          <a:bodyPr wrap="square" lIns="0" tIns="0" rIns="0" bIns="0" rtlCol="0" anchor="t"/>
          <a:lstStyle/>
          <a:p>
            <a:pPr marL="0" indent="0" algn="ctr">
              <a:buNone/>
            </a:pPr>
            <a:r>
              <a:rPr lang="en-US" sz="1200" dirty="0">
                <a:solidFill>
                  <a:srgbClr val="DCEBCB"/>
                </a:solidFill>
              </a:rPr>
              <a:t>7 pages: dashboard to profile</a:t>
            </a:r>
            <a:endParaRPr lang="en-US" sz="1200" dirty="0"/>
          </a:p>
        </p:txBody>
      </p:sp>
      <p:sp>
        <p:nvSpPr>
          <p:cNvPr id="16" name="Shape 11"/>
          <p:cNvSpPr/>
          <p:nvPr/>
        </p:nvSpPr>
        <p:spPr>
          <a:xfrm>
            <a:off x="8595360" y="1417320"/>
            <a:ext cx="3154680" cy="914400"/>
          </a:xfrm>
          <a:prstGeom prst="roundRect">
            <a:avLst>
              <a:gd name="adj" fmla="val 12000"/>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sp>
        <p:nvSpPr>
          <p:cNvPr id="17" name="Text 12"/>
          <p:cNvSpPr txBox="1"/>
          <p:nvPr/>
        </p:nvSpPr>
        <p:spPr>
          <a:xfrm>
            <a:off x="8686800" y="1508760"/>
            <a:ext cx="2971800" cy="365760"/>
          </a:xfrm>
          <a:prstGeom prst="rect">
            <a:avLst/>
          </a:prstGeom>
          <a:noFill/>
          <a:ln/>
        </p:spPr>
        <p:txBody>
          <a:bodyPr wrap="square" lIns="0" tIns="0" rIns="0" bIns="0" rtlCol="0" anchor="ctr"/>
          <a:lstStyle/>
          <a:p>
            <a:pPr marL="0" indent="0" algn="ctr">
              <a:buNone/>
            </a:pPr>
            <a:r>
              <a:rPr lang="en-US" sz="1600" b="1" dirty="0">
                <a:solidFill>
                  <a:schemeClr val="tx2"/>
                </a:solidFill>
              </a:rPr>
              <a:t>Browser-side logic</a:t>
            </a:r>
            <a:endParaRPr lang="en-US" sz="1600" dirty="0"/>
          </a:p>
        </p:txBody>
      </p:sp>
      <p:sp>
        <p:nvSpPr>
          <p:cNvPr id="18" name="Text 13"/>
          <p:cNvSpPr txBox="1"/>
          <p:nvPr/>
        </p:nvSpPr>
        <p:spPr>
          <a:xfrm>
            <a:off x="8686800" y="1874520"/>
            <a:ext cx="2971800" cy="411480"/>
          </a:xfrm>
          <a:prstGeom prst="rect">
            <a:avLst/>
          </a:prstGeom>
          <a:noFill/>
          <a:ln/>
        </p:spPr>
        <p:txBody>
          <a:bodyPr wrap="square" lIns="0" tIns="0" rIns="0" bIns="0" rtlCol="0" anchor="t"/>
          <a:lstStyle/>
          <a:p>
            <a:pPr marL="0" indent="0" algn="ctr">
              <a:buNone/>
            </a:pPr>
            <a:r>
              <a:rPr lang="en-US" sz="1200" dirty="0">
                <a:solidFill>
                  <a:srgbClr val="4F6558"/>
                </a:solidFill>
              </a:rPr>
              <a:t>Calculations · topic matching</a:t>
            </a:r>
            <a:endParaRPr lang="en-US" sz="1200" dirty="0"/>
          </a:p>
        </p:txBody>
      </p:sp>
      <p:sp>
        <p:nvSpPr>
          <p:cNvPr id="19" name="Shape 14"/>
          <p:cNvSpPr/>
          <p:nvPr/>
        </p:nvSpPr>
        <p:spPr>
          <a:xfrm>
            <a:off x="8595360" y="2514600"/>
            <a:ext cx="3154680" cy="914400"/>
          </a:xfrm>
          <a:prstGeom prst="roundRect">
            <a:avLst>
              <a:gd name="adj" fmla="val 12000"/>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sp>
        <p:nvSpPr>
          <p:cNvPr id="20" name="Text 15"/>
          <p:cNvSpPr txBox="1"/>
          <p:nvPr/>
        </p:nvSpPr>
        <p:spPr>
          <a:xfrm>
            <a:off x="8686800" y="2606040"/>
            <a:ext cx="2971800" cy="365760"/>
          </a:xfrm>
          <a:prstGeom prst="rect">
            <a:avLst/>
          </a:prstGeom>
          <a:noFill/>
          <a:ln/>
        </p:spPr>
        <p:txBody>
          <a:bodyPr wrap="square" lIns="0" tIns="0" rIns="0" bIns="0" rtlCol="0" anchor="ctr"/>
          <a:lstStyle/>
          <a:p>
            <a:pPr marL="0" indent="0" algn="ctr">
              <a:buNone/>
            </a:pPr>
            <a:r>
              <a:rPr lang="en-US" sz="1600" b="1" dirty="0">
                <a:solidFill>
                  <a:schemeClr val="tx2"/>
                </a:solidFill>
              </a:rPr>
              <a:t>Local storage + links</a:t>
            </a:r>
            <a:endParaRPr lang="en-US" sz="1600" dirty="0"/>
          </a:p>
        </p:txBody>
      </p:sp>
      <p:sp>
        <p:nvSpPr>
          <p:cNvPr id="21" name="Text 16"/>
          <p:cNvSpPr txBox="1"/>
          <p:nvPr/>
        </p:nvSpPr>
        <p:spPr>
          <a:xfrm>
            <a:off x="8686800" y="2971800"/>
            <a:ext cx="2971800" cy="411480"/>
          </a:xfrm>
          <a:prstGeom prst="rect">
            <a:avLst/>
          </a:prstGeom>
          <a:noFill/>
          <a:ln/>
        </p:spPr>
        <p:txBody>
          <a:bodyPr wrap="square" lIns="0" tIns="0" rIns="0" bIns="0" rtlCol="0" anchor="t"/>
          <a:lstStyle/>
          <a:p>
            <a:pPr marL="0" indent="0" algn="ctr">
              <a:buNone/>
            </a:pPr>
            <a:r>
              <a:rPr lang="en-US" sz="1200" dirty="0">
                <a:solidFill>
                  <a:srgbClr val="4F6558"/>
                </a:solidFill>
              </a:rPr>
              <a:t>Profile on device · official links</a:t>
            </a:r>
            <a:endParaRPr lang="en-US" sz="1200" dirty="0"/>
          </a:p>
        </p:txBody>
      </p:sp>
      <p:pic>
        <p:nvPicPr>
          <p:cNvPr id="22" name="Image 3" descr="flows to"/>
          <p:cNvPicPr>
            <a:picLocks noChangeAspect="1"/>
          </p:cNvPicPr>
          <p:nvPr/>
        </p:nvPicPr>
        <p:blipFill>
          <a:blip r:embed="rId6"/>
          <a:stretch>
            <a:fillRect/>
          </a:stretch>
        </p:blipFill>
        <p:spPr>
          <a:xfrm>
            <a:off x="2331720" y="2331720"/>
            <a:ext cx="365760" cy="365760"/>
          </a:xfrm>
          <a:prstGeom prst="rect">
            <a:avLst/>
          </a:prstGeom>
        </p:spPr>
      </p:pic>
      <p:pic>
        <p:nvPicPr>
          <p:cNvPr id="23" name="Image 4" descr="flows to"/>
          <p:cNvPicPr>
            <a:picLocks noChangeAspect="1"/>
          </p:cNvPicPr>
          <p:nvPr/>
        </p:nvPicPr>
        <p:blipFill>
          <a:blip r:embed="rId6"/>
          <a:stretch>
            <a:fillRect/>
          </a:stretch>
        </p:blipFill>
        <p:spPr>
          <a:xfrm>
            <a:off x="5257800" y="2331720"/>
            <a:ext cx="365760" cy="365760"/>
          </a:xfrm>
          <a:prstGeom prst="rect">
            <a:avLst/>
          </a:prstGeom>
        </p:spPr>
      </p:pic>
      <p:pic>
        <p:nvPicPr>
          <p:cNvPr id="24" name="Image 5" descr="flows to"/>
          <p:cNvPicPr>
            <a:picLocks noChangeAspect="1"/>
          </p:cNvPicPr>
          <p:nvPr/>
        </p:nvPicPr>
        <p:blipFill>
          <a:blip r:embed="rId6"/>
          <a:stretch>
            <a:fillRect/>
          </a:stretch>
        </p:blipFill>
        <p:spPr>
          <a:xfrm>
            <a:off x="8183880" y="1874520"/>
            <a:ext cx="365760" cy="365760"/>
          </a:xfrm>
          <a:prstGeom prst="rect">
            <a:avLst/>
          </a:prstGeom>
        </p:spPr>
      </p:pic>
      <p:pic>
        <p:nvPicPr>
          <p:cNvPr id="25" name="Image 6" descr="flows to"/>
          <p:cNvPicPr>
            <a:picLocks noChangeAspect="1"/>
          </p:cNvPicPr>
          <p:nvPr/>
        </p:nvPicPr>
        <p:blipFill>
          <a:blip r:embed="rId6"/>
          <a:stretch>
            <a:fillRect/>
          </a:stretch>
        </p:blipFill>
        <p:spPr>
          <a:xfrm>
            <a:off x="8183880" y="2971800"/>
            <a:ext cx="365760" cy="365760"/>
          </a:xfrm>
          <a:prstGeom prst="rect">
            <a:avLst/>
          </a:prstGeom>
        </p:spPr>
      </p:pic>
      <p:sp>
        <p:nvSpPr>
          <p:cNvPr id="26" name="Text 17"/>
          <p:cNvSpPr txBox="1"/>
          <p:nvPr/>
        </p:nvSpPr>
        <p:spPr>
          <a:xfrm>
            <a:off x="548640" y="3657600"/>
            <a:ext cx="73152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VERIFIED FROM THE SOURCE CODE</a:t>
            </a:r>
            <a:endParaRPr lang="en-US" sz="1200" dirty="0"/>
          </a:p>
        </p:txBody>
      </p:sp>
      <p:sp>
        <p:nvSpPr>
          <p:cNvPr id="27" name="Shape 18"/>
          <p:cNvSpPr/>
          <p:nvPr/>
        </p:nvSpPr>
        <p:spPr>
          <a:xfrm>
            <a:off x="548640" y="4023360"/>
            <a:ext cx="2651760" cy="411480"/>
          </a:xfrm>
          <a:prstGeom prst="roundRect">
            <a:avLst>
              <a:gd name="adj" fmla="val 50000"/>
            </a:avLst>
          </a:prstGeom>
          <a:solidFill>
            <a:schemeClr val="bg2"/>
          </a:solidFill>
          <a:ln w="12700">
            <a:solidFill>
              <a:schemeClr val="bg2"/>
            </a:solidFill>
            <a:prstDash val="solid"/>
          </a:ln>
        </p:spPr>
      </p:sp>
      <p:sp>
        <p:nvSpPr>
          <p:cNvPr id="28" name="Text 19"/>
          <p:cNvSpPr txBox="1"/>
          <p:nvPr/>
        </p:nvSpPr>
        <p:spPr>
          <a:xfrm>
            <a:off x="548640" y="402336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React (hooks)</a:t>
            </a:r>
            <a:endParaRPr lang="en-US" sz="1400" dirty="0"/>
          </a:p>
        </p:txBody>
      </p:sp>
      <p:sp>
        <p:nvSpPr>
          <p:cNvPr id="29" name="Shape 20"/>
          <p:cNvSpPr/>
          <p:nvPr/>
        </p:nvSpPr>
        <p:spPr>
          <a:xfrm>
            <a:off x="3383280" y="4023360"/>
            <a:ext cx="2651760" cy="411480"/>
          </a:xfrm>
          <a:prstGeom prst="roundRect">
            <a:avLst>
              <a:gd name="adj" fmla="val 50000"/>
            </a:avLst>
          </a:prstGeom>
          <a:solidFill>
            <a:schemeClr val="bg2"/>
          </a:solidFill>
          <a:ln w="12700">
            <a:solidFill>
              <a:schemeClr val="bg2"/>
            </a:solidFill>
            <a:prstDash val="solid"/>
          </a:ln>
        </p:spPr>
      </p:sp>
      <p:sp>
        <p:nvSpPr>
          <p:cNvPr id="30" name="Text 21"/>
          <p:cNvSpPr txBox="1"/>
          <p:nvPr/>
        </p:nvSpPr>
        <p:spPr>
          <a:xfrm>
            <a:off x="3383280" y="402336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Vite build tool</a:t>
            </a:r>
            <a:endParaRPr lang="en-US" sz="1400" dirty="0"/>
          </a:p>
        </p:txBody>
      </p:sp>
      <p:sp>
        <p:nvSpPr>
          <p:cNvPr id="31" name="Shape 22"/>
          <p:cNvSpPr/>
          <p:nvPr/>
        </p:nvSpPr>
        <p:spPr>
          <a:xfrm>
            <a:off x="6217920" y="4023360"/>
            <a:ext cx="2651760" cy="411480"/>
          </a:xfrm>
          <a:prstGeom prst="roundRect">
            <a:avLst>
              <a:gd name="adj" fmla="val 50000"/>
            </a:avLst>
          </a:prstGeom>
          <a:solidFill>
            <a:schemeClr val="bg2"/>
          </a:solidFill>
          <a:ln w="12700">
            <a:solidFill>
              <a:schemeClr val="bg2"/>
            </a:solidFill>
            <a:prstDash val="solid"/>
          </a:ln>
        </p:spPr>
      </p:sp>
      <p:sp>
        <p:nvSpPr>
          <p:cNvPr id="32" name="Text 23"/>
          <p:cNvSpPr txBox="1"/>
          <p:nvPr/>
        </p:nvSpPr>
        <p:spPr>
          <a:xfrm>
            <a:off x="6217920" y="402336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lucide-react icons</a:t>
            </a:r>
            <a:endParaRPr lang="en-US" sz="1400" dirty="0"/>
          </a:p>
        </p:txBody>
      </p:sp>
      <p:sp>
        <p:nvSpPr>
          <p:cNvPr id="33" name="Shape 24"/>
          <p:cNvSpPr/>
          <p:nvPr/>
        </p:nvSpPr>
        <p:spPr>
          <a:xfrm>
            <a:off x="9052560" y="4023360"/>
            <a:ext cx="2651760" cy="411480"/>
          </a:xfrm>
          <a:prstGeom prst="roundRect">
            <a:avLst>
              <a:gd name="adj" fmla="val 50000"/>
            </a:avLst>
          </a:prstGeom>
          <a:solidFill>
            <a:schemeClr val="bg2"/>
          </a:solidFill>
          <a:ln w="12700">
            <a:solidFill>
              <a:schemeClr val="bg2"/>
            </a:solidFill>
            <a:prstDash val="solid"/>
          </a:ln>
        </p:spPr>
      </p:sp>
      <p:sp>
        <p:nvSpPr>
          <p:cNvPr id="34" name="Text 25"/>
          <p:cNvSpPr txBox="1"/>
          <p:nvPr/>
        </p:nvSpPr>
        <p:spPr>
          <a:xfrm>
            <a:off x="9052560" y="402336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Responsive CSS</a:t>
            </a:r>
            <a:endParaRPr lang="en-US" sz="1400" dirty="0"/>
          </a:p>
        </p:txBody>
      </p:sp>
      <p:sp>
        <p:nvSpPr>
          <p:cNvPr id="35" name="Shape 26"/>
          <p:cNvSpPr/>
          <p:nvPr/>
        </p:nvSpPr>
        <p:spPr>
          <a:xfrm>
            <a:off x="548640" y="4572000"/>
            <a:ext cx="2651760" cy="411480"/>
          </a:xfrm>
          <a:prstGeom prst="roundRect">
            <a:avLst>
              <a:gd name="adj" fmla="val 50000"/>
            </a:avLst>
          </a:prstGeom>
          <a:solidFill>
            <a:schemeClr val="bg2"/>
          </a:solidFill>
          <a:ln w="12700">
            <a:solidFill>
              <a:schemeClr val="bg2"/>
            </a:solidFill>
            <a:prstDash val="solid"/>
          </a:ln>
        </p:spPr>
      </p:sp>
      <p:sp>
        <p:nvSpPr>
          <p:cNvPr id="36" name="Text 27"/>
          <p:cNvSpPr txBox="1"/>
          <p:nvPr/>
        </p:nvSpPr>
        <p:spPr>
          <a:xfrm>
            <a:off x="548640" y="457200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Web Speech API</a:t>
            </a:r>
            <a:endParaRPr lang="en-US" sz="1400" dirty="0"/>
          </a:p>
        </p:txBody>
      </p:sp>
      <p:sp>
        <p:nvSpPr>
          <p:cNvPr id="37" name="Shape 28"/>
          <p:cNvSpPr/>
          <p:nvPr/>
        </p:nvSpPr>
        <p:spPr>
          <a:xfrm>
            <a:off x="3383280" y="4572000"/>
            <a:ext cx="2651760" cy="411480"/>
          </a:xfrm>
          <a:prstGeom prst="roundRect">
            <a:avLst>
              <a:gd name="adj" fmla="val 50000"/>
            </a:avLst>
          </a:prstGeom>
          <a:solidFill>
            <a:schemeClr val="bg2"/>
          </a:solidFill>
          <a:ln w="12700">
            <a:solidFill>
              <a:schemeClr val="bg2"/>
            </a:solidFill>
            <a:prstDash val="solid"/>
          </a:ln>
        </p:spPr>
      </p:sp>
      <p:sp>
        <p:nvSpPr>
          <p:cNvPr id="38" name="Text 29"/>
          <p:cNvSpPr txBox="1"/>
          <p:nvPr/>
        </p:nvSpPr>
        <p:spPr>
          <a:xfrm>
            <a:off x="3383280" y="457200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localStorage</a:t>
            </a:r>
            <a:endParaRPr lang="en-US" sz="1400" dirty="0"/>
          </a:p>
        </p:txBody>
      </p:sp>
      <p:sp>
        <p:nvSpPr>
          <p:cNvPr id="39" name="Shape 30"/>
          <p:cNvSpPr/>
          <p:nvPr/>
        </p:nvSpPr>
        <p:spPr>
          <a:xfrm>
            <a:off x="6217920" y="4572000"/>
            <a:ext cx="2651760" cy="411480"/>
          </a:xfrm>
          <a:prstGeom prst="roundRect">
            <a:avLst>
              <a:gd name="adj" fmla="val 50000"/>
            </a:avLst>
          </a:prstGeom>
          <a:solidFill>
            <a:schemeClr val="bg2"/>
          </a:solidFill>
          <a:ln w="12700">
            <a:solidFill>
              <a:schemeClr val="bg2"/>
            </a:solidFill>
            <a:prstDash val="solid"/>
          </a:ln>
        </p:spPr>
      </p:sp>
      <p:sp>
        <p:nvSpPr>
          <p:cNvPr id="40" name="Text 31"/>
          <p:cNvSpPr txBox="1"/>
          <p:nvPr/>
        </p:nvSpPr>
        <p:spPr>
          <a:xfrm>
            <a:off x="6217920" y="457200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Intl ₹ formatting</a:t>
            </a:r>
            <a:endParaRPr lang="en-US" sz="1400" dirty="0"/>
          </a:p>
        </p:txBody>
      </p:sp>
      <p:sp>
        <p:nvSpPr>
          <p:cNvPr id="41" name="Shape 32"/>
          <p:cNvSpPr/>
          <p:nvPr/>
        </p:nvSpPr>
        <p:spPr>
          <a:xfrm>
            <a:off x="9052560" y="4572000"/>
            <a:ext cx="2651760" cy="411480"/>
          </a:xfrm>
          <a:prstGeom prst="roundRect">
            <a:avLst>
              <a:gd name="adj" fmla="val 50000"/>
            </a:avLst>
          </a:prstGeom>
          <a:solidFill>
            <a:schemeClr val="bg2"/>
          </a:solidFill>
          <a:ln w="12700">
            <a:solidFill>
              <a:schemeClr val="bg2"/>
            </a:solidFill>
            <a:prstDash val="solid"/>
          </a:ln>
        </p:spPr>
      </p:sp>
      <p:sp>
        <p:nvSpPr>
          <p:cNvPr id="42" name="Text 33"/>
          <p:cNvSpPr txBox="1"/>
          <p:nvPr/>
        </p:nvSpPr>
        <p:spPr>
          <a:xfrm>
            <a:off x="9052560" y="4572000"/>
            <a:ext cx="2651760" cy="411480"/>
          </a:xfrm>
          <a:prstGeom prst="rect">
            <a:avLst/>
          </a:prstGeom>
          <a:noFill/>
          <a:ln/>
        </p:spPr>
        <p:txBody>
          <a:bodyPr wrap="square" lIns="0" tIns="0" rIns="0" bIns="0" rtlCol="0" anchor="ctr"/>
          <a:lstStyle/>
          <a:p>
            <a:pPr marL="0" indent="0" algn="ctr">
              <a:buNone/>
            </a:pPr>
            <a:r>
              <a:rPr lang="en-US" sz="1400" b="1" dirty="0">
                <a:solidFill>
                  <a:schemeClr val="tx2"/>
                </a:solidFill>
              </a:rPr>
              <a:t>Google Fonts</a:t>
            </a:r>
            <a:endParaRPr lang="en-US" sz="1400" dirty="0"/>
          </a:p>
        </p:txBody>
      </p:sp>
      <p:sp>
        <p:nvSpPr>
          <p:cNvPr id="43" name="Shape 34"/>
          <p:cNvSpPr/>
          <p:nvPr/>
        </p:nvSpPr>
        <p:spPr>
          <a:xfrm>
            <a:off x="548640" y="5349240"/>
            <a:ext cx="11201400" cy="914400"/>
          </a:xfrm>
          <a:prstGeom prst="roundRect">
            <a:avLst>
              <a:gd name="adj" fmla="val 12000"/>
            </a:avLst>
          </a:prstGeom>
          <a:solidFill>
            <a:schemeClr val="accent6"/>
          </a:solidFill>
          <a:ln w="19050">
            <a:solidFill>
              <a:schemeClr val="accent2"/>
            </a:solidFill>
            <a:prstDash val="dash"/>
          </a:ln>
        </p:spPr>
      </p:sp>
      <p:sp>
        <p:nvSpPr>
          <p:cNvPr id="44" name="Text 35"/>
          <p:cNvSpPr txBox="1"/>
          <p:nvPr/>
        </p:nvSpPr>
        <p:spPr>
          <a:xfrm>
            <a:off x="777240" y="5349240"/>
            <a:ext cx="10789920" cy="914400"/>
          </a:xfrm>
          <a:prstGeom prst="rect">
            <a:avLst/>
          </a:prstGeom>
          <a:noFill/>
          <a:ln/>
        </p:spPr>
        <p:txBody>
          <a:bodyPr wrap="square" lIns="0" tIns="0" rIns="0" bIns="0" rtlCol="0" anchor="ctr"/>
          <a:lstStyle/>
          <a:p>
            <a:pPr marL="0" indent="0">
              <a:buNone/>
            </a:pPr>
            <a:r>
              <a:rPr lang="en-US" sz="1500" b="1" dirty="0">
                <a:solidFill>
                  <a:srgbClr val="6B4F10"/>
                </a:solidFill>
              </a:rPr>
              <a:t>Not in this prototype: </a:t>
            </a:r>
            <a:r>
              <a:rPr lang="en-US" sz="1500" dirty="0">
                <a:solidFill>
                  <a:srgbClr val="6B4F10"/>
                </a:solidFill>
              </a:rPr>
              <a:t>backend server · database · login/authentication · AI model · live data APIs — these are our roadmap, not claims.</a:t>
            </a:r>
            <a:endParaRPr lang="en-US" sz="1500" dirty="0"/>
          </a:p>
        </p:txBody>
      </p:sp>
      <p:sp>
        <p:nvSpPr>
          <p:cNvPr id="4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300" dirty="0">
                <a:solidFill>
                  <a:srgbClr val="8A6416"/>
                </a:solidFill>
              </a:rPr>
              <a:t>IMPACT &amp; ROADMAP</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Innovation, impact &amp; future scope</a:t>
            </a:r>
            <a:endParaRPr lang="en-US" sz="3400" dirty="0"/>
          </a:p>
        </p:txBody>
      </p:sp>
      <p:sp>
        <p:nvSpPr>
          <p:cNvPr id="4" name="IMPLEMENTED TODAY"/>
          <p:cNvSpPr/>
          <p:nvPr/>
        </p:nvSpPr>
        <p:spPr>
          <a:xfrm>
            <a:off x="548640" y="1463040"/>
            <a:ext cx="5349240" cy="4434840"/>
          </a:xfrm>
          <a:prstGeom prst="roundRect">
            <a:avLst>
              <a:gd name="adj" fmla="val 2474"/>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5" name="Shape 3"/>
          <p:cNvSpPr/>
          <p:nvPr/>
        </p:nvSpPr>
        <p:spPr>
          <a:xfrm>
            <a:off x="731520" y="1645920"/>
            <a:ext cx="2651760" cy="411480"/>
          </a:xfrm>
          <a:prstGeom prst="roundRect">
            <a:avLst>
              <a:gd name="adj" fmla="val 48889"/>
            </a:avLst>
          </a:prstGeom>
          <a:solidFill>
            <a:schemeClr val="accent4"/>
          </a:solidFill>
          <a:ln w="12700">
            <a:solidFill>
              <a:schemeClr val="accent4"/>
            </a:solidFill>
            <a:prstDash val="solid"/>
          </a:ln>
        </p:spPr>
      </p:sp>
      <p:sp>
        <p:nvSpPr>
          <p:cNvPr id="6" name="Text 4"/>
          <p:cNvSpPr txBox="1"/>
          <p:nvPr/>
        </p:nvSpPr>
        <p:spPr>
          <a:xfrm>
            <a:off x="731520" y="1645920"/>
            <a:ext cx="2651760" cy="411480"/>
          </a:xfrm>
          <a:prstGeom prst="rect">
            <a:avLst/>
          </a:prstGeom>
          <a:noFill/>
          <a:ln/>
        </p:spPr>
        <p:txBody>
          <a:bodyPr wrap="square" lIns="0" tIns="0" rIns="0" bIns="0" rtlCol="0" anchor="ctr"/>
          <a:lstStyle/>
          <a:p>
            <a:pPr marL="0" indent="0" algn="ctr">
              <a:buNone/>
            </a:pPr>
            <a:r>
              <a:rPr lang="en-US" sz="1400" b="1" dirty="0">
                <a:solidFill>
                  <a:schemeClr val="bg1"/>
                </a:solidFill>
              </a:rPr>
              <a:t>IMPLEMENTED TODAY</a:t>
            </a:r>
            <a:endParaRPr lang="en-US" sz="1400" dirty="0"/>
          </a:p>
        </p:txBody>
      </p:sp>
      <p:sp>
        <p:nvSpPr>
          <p:cNvPr id="7" name="Shape 5"/>
          <p:cNvSpPr/>
          <p:nvPr/>
        </p:nvSpPr>
        <p:spPr>
          <a:xfrm>
            <a:off x="822960" y="2331720"/>
            <a:ext cx="457200" cy="457200"/>
          </a:xfrm>
          <a:prstGeom prst="ellipse">
            <a:avLst/>
          </a:prstGeom>
          <a:solidFill>
            <a:schemeClr val="bg2"/>
          </a:solidFill>
          <a:ln w="12700">
            <a:solidFill>
              <a:schemeClr val="accent4"/>
            </a:solidFill>
            <a:prstDash val="solid"/>
          </a:ln>
        </p:spPr>
      </p:sp>
      <p:pic>
        <p:nvPicPr>
          <p:cNvPr id="8" name="Image 0" descr="IMPLEMENTED TODAY"/>
          <p:cNvPicPr>
            <a:picLocks noChangeAspect="1"/>
          </p:cNvPicPr>
          <p:nvPr/>
        </p:nvPicPr>
        <p:blipFill>
          <a:blip r:embed="rId3"/>
          <a:stretch>
            <a:fillRect/>
          </a:stretch>
        </p:blipFill>
        <p:spPr>
          <a:xfrm>
            <a:off x="914400" y="2423160"/>
            <a:ext cx="274320" cy="274320"/>
          </a:xfrm>
          <a:prstGeom prst="rect">
            <a:avLst/>
          </a:prstGeom>
        </p:spPr>
      </p:pic>
      <p:sp>
        <p:nvSpPr>
          <p:cNvPr id="9" name="Text 6"/>
          <p:cNvSpPr txBox="1"/>
          <p:nvPr/>
        </p:nvSpPr>
        <p:spPr>
          <a:xfrm>
            <a:off x="1417320" y="2286000"/>
            <a:ext cx="4297680" cy="548640"/>
          </a:xfrm>
          <a:prstGeom prst="rect">
            <a:avLst/>
          </a:prstGeom>
          <a:noFill/>
          <a:ln/>
        </p:spPr>
        <p:txBody>
          <a:bodyPr wrap="square" lIns="0" tIns="0" rIns="0" bIns="0" rtlCol="0" anchor="ctr"/>
          <a:lstStyle/>
          <a:p>
            <a:pPr marL="0" indent="0">
              <a:buNone/>
            </a:pPr>
            <a:r>
              <a:rPr lang="en-US" sz="1600" dirty="0">
                <a:solidFill>
                  <a:schemeClr val="tx1"/>
                </a:solidFill>
              </a:rPr>
              <a:t>Many support tools in one interface</a:t>
            </a:r>
            <a:endParaRPr lang="en-US" sz="1600" dirty="0"/>
          </a:p>
        </p:txBody>
      </p:sp>
      <p:sp>
        <p:nvSpPr>
          <p:cNvPr id="10" name="Shape 7"/>
          <p:cNvSpPr/>
          <p:nvPr/>
        </p:nvSpPr>
        <p:spPr>
          <a:xfrm>
            <a:off x="822960" y="3035808"/>
            <a:ext cx="457200" cy="457200"/>
          </a:xfrm>
          <a:prstGeom prst="ellipse">
            <a:avLst/>
          </a:prstGeom>
          <a:solidFill>
            <a:schemeClr val="bg2"/>
          </a:solidFill>
          <a:ln w="12700">
            <a:solidFill>
              <a:schemeClr val="accent4"/>
            </a:solidFill>
            <a:prstDash val="solid"/>
          </a:ln>
        </p:spPr>
      </p:sp>
      <p:pic>
        <p:nvPicPr>
          <p:cNvPr id="11" name="Image 1" descr="IMPLEMENTED TODAY"/>
          <p:cNvPicPr>
            <a:picLocks noChangeAspect="1"/>
          </p:cNvPicPr>
          <p:nvPr/>
        </p:nvPicPr>
        <p:blipFill>
          <a:blip r:embed="rId3"/>
          <a:stretch>
            <a:fillRect/>
          </a:stretch>
        </p:blipFill>
        <p:spPr>
          <a:xfrm>
            <a:off x="914400" y="3127248"/>
            <a:ext cx="274320" cy="274320"/>
          </a:xfrm>
          <a:prstGeom prst="rect">
            <a:avLst/>
          </a:prstGeom>
        </p:spPr>
      </p:pic>
      <p:sp>
        <p:nvSpPr>
          <p:cNvPr id="12" name="Text 8"/>
          <p:cNvSpPr txBox="1"/>
          <p:nvPr/>
        </p:nvSpPr>
        <p:spPr>
          <a:xfrm>
            <a:off x="1417320" y="2990088"/>
            <a:ext cx="4297680" cy="548640"/>
          </a:xfrm>
          <a:prstGeom prst="rect">
            <a:avLst/>
          </a:prstGeom>
          <a:noFill/>
          <a:ln/>
        </p:spPr>
        <p:txBody>
          <a:bodyPr wrap="square" lIns="0" tIns="0" rIns="0" bIns="0" rtlCol="0" anchor="ctr"/>
          <a:lstStyle/>
          <a:p>
            <a:pPr marL="0" indent="0">
              <a:buNone/>
            </a:pPr>
            <a:r>
              <a:rPr lang="en-US" sz="1600" dirty="0">
                <a:solidFill>
                  <a:schemeClr val="tx1"/>
                </a:solidFill>
              </a:rPr>
              <a:t>Simple profit and margin estimation</a:t>
            </a:r>
            <a:endParaRPr lang="en-US" sz="1600" dirty="0"/>
          </a:p>
        </p:txBody>
      </p:sp>
      <p:sp>
        <p:nvSpPr>
          <p:cNvPr id="13" name="Shape 9"/>
          <p:cNvSpPr/>
          <p:nvPr/>
        </p:nvSpPr>
        <p:spPr>
          <a:xfrm>
            <a:off x="822960" y="3739896"/>
            <a:ext cx="457200" cy="457200"/>
          </a:xfrm>
          <a:prstGeom prst="ellipse">
            <a:avLst/>
          </a:prstGeom>
          <a:solidFill>
            <a:schemeClr val="bg2"/>
          </a:solidFill>
          <a:ln w="12700">
            <a:solidFill>
              <a:schemeClr val="accent4"/>
            </a:solidFill>
            <a:prstDash val="solid"/>
          </a:ln>
        </p:spPr>
      </p:sp>
      <p:pic>
        <p:nvPicPr>
          <p:cNvPr id="14" name="Image 2" descr="IMPLEMENTED TODAY"/>
          <p:cNvPicPr>
            <a:picLocks noChangeAspect="1"/>
          </p:cNvPicPr>
          <p:nvPr/>
        </p:nvPicPr>
        <p:blipFill>
          <a:blip r:embed="rId3"/>
          <a:stretch>
            <a:fillRect/>
          </a:stretch>
        </p:blipFill>
        <p:spPr>
          <a:xfrm>
            <a:off x="914400" y="3831336"/>
            <a:ext cx="274320" cy="274320"/>
          </a:xfrm>
          <a:prstGeom prst="rect">
            <a:avLst/>
          </a:prstGeom>
        </p:spPr>
      </p:pic>
      <p:sp>
        <p:nvSpPr>
          <p:cNvPr id="15" name="Text 10"/>
          <p:cNvSpPr txBox="1"/>
          <p:nvPr/>
        </p:nvSpPr>
        <p:spPr>
          <a:xfrm>
            <a:off x="1417320" y="3694176"/>
            <a:ext cx="4297680" cy="548640"/>
          </a:xfrm>
          <a:prstGeom prst="rect">
            <a:avLst/>
          </a:prstGeom>
          <a:noFill/>
          <a:ln/>
        </p:spPr>
        <p:txBody>
          <a:bodyPr wrap="square" lIns="0" tIns="0" rIns="0" bIns="0" rtlCol="0" anchor="ctr"/>
          <a:lstStyle/>
          <a:p>
            <a:pPr marL="0" indent="0">
              <a:buNone/>
            </a:pPr>
            <a:r>
              <a:rPr lang="en-US" sz="1600" dirty="0">
                <a:solidFill>
                  <a:schemeClr val="tx1"/>
                </a:solidFill>
              </a:rPr>
              <a:t>Tamil, Hindi and English guidance</a:t>
            </a:r>
            <a:endParaRPr lang="en-US" sz="1600" dirty="0"/>
          </a:p>
        </p:txBody>
      </p:sp>
      <p:sp>
        <p:nvSpPr>
          <p:cNvPr id="16" name="Shape 11"/>
          <p:cNvSpPr/>
          <p:nvPr/>
        </p:nvSpPr>
        <p:spPr>
          <a:xfrm>
            <a:off x="822960" y="4443984"/>
            <a:ext cx="457200" cy="457200"/>
          </a:xfrm>
          <a:prstGeom prst="ellipse">
            <a:avLst/>
          </a:prstGeom>
          <a:solidFill>
            <a:schemeClr val="bg2"/>
          </a:solidFill>
          <a:ln w="12700">
            <a:solidFill>
              <a:schemeClr val="accent4"/>
            </a:solidFill>
            <a:prstDash val="solid"/>
          </a:ln>
        </p:spPr>
      </p:sp>
      <p:pic>
        <p:nvPicPr>
          <p:cNvPr id="17" name="Image 3" descr="IMPLEMENTED TODAY"/>
          <p:cNvPicPr>
            <a:picLocks noChangeAspect="1"/>
          </p:cNvPicPr>
          <p:nvPr/>
        </p:nvPicPr>
        <p:blipFill>
          <a:blip r:embed="rId3"/>
          <a:stretch>
            <a:fillRect/>
          </a:stretch>
        </p:blipFill>
        <p:spPr>
          <a:xfrm>
            <a:off x="914400" y="4535424"/>
            <a:ext cx="274320" cy="274320"/>
          </a:xfrm>
          <a:prstGeom prst="rect">
            <a:avLst/>
          </a:prstGeom>
        </p:spPr>
      </p:pic>
      <p:sp>
        <p:nvSpPr>
          <p:cNvPr id="18" name="Text 12"/>
          <p:cNvSpPr txBox="1"/>
          <p:nvPr/>
        </p:nvSpPr>
        <p:spPr>
          <a:xfrm>
            <a:off x="1417320" y="4398264"/>
            <a:ext cx="4297680" cy="548640"/>
          </a:xfrm>
          <a:prstGeom prst="rect">
            <a:avLst/>
          </a:prstGeom>
          <a:noFill/>
          <a:ln/>
        </p:spPr>
        <p:txBody>
          <a:bodyPr wrap="square" lIns="0" tIns="0" rIns="0" bIns="0" rtlCol="0" anchor="ctr"/>
          <a:lstStyle/>
          <a:p>
            <a:pPr marL="0" indent="0">
              <a:buNone/>
            </a:pPr>
            <a:r>
              <a:rPr lang="en-US" sz="1600" dirty="0">
                <a:solidFill>
                  <a:schemeClr val="tx1"/>
                </a:solidFill>
              </a:rPr>
              <a:t>Pointers to official resources</a:t>
            </a:r>
            <a:endParaRPr lang="en-US" sz="1600" dirty="0"/>
          </a:p>
        </p:txBody>
      </p:sp>
      <p:sp>
        <p:nvSpPr>
          <p:cNvPr id="19" name="Shape 13"/>
          <p:cNvSpPr/>
          <p:nvPr/>
        </p:nvSpPr>
        <p:spPr>
          <a:xfrm>
            <a:off x="822960" y="5148072"/>
            <a:ext cx="457200" cy="457200"/>
          </a:xfrm>
          <a:prstGeom prst="ellipse">
            <a:avLst/>
          </a:prstGeom>
          <a:solidFill>
            <a:schemeClr val="bg2"/>
          </a:solidFill>
          <a:ln w="12700">
            <a:solidFill>
              <a:schemeClr val="accent4"/>
            </a:solidFill>
            <a:prstDash val="solid"/>
          </a:ln>
        </p:spPr>
      </p:sp>
      <p:pic>
        <p:nvPicPr>
          <p:cNvPr id="20" name="Image 4" descr="IMPLEMENTED TODAY"/>
          <p:cNvPicPr>
            <a:picLocks noChangeAspect="1"/>
          </p:cNvPicPr>
          <p:nvPr/>
        </p:nvPicPr>
        <p:blipFill>
          <a:blip r:embed="rId3"/>
          <a:stretch>
            <a:fillRect/>
          </a:stretch>
        </p:blipFill>
        <p:spPr>
          <a:xfrm>
            <a:off x="914400" y="5239512"/>
            <a:ext cx="274320" cy="274320"/>
          </a:xfrm>
          <a:prstGeom prst="rect">
            <a:avLst/>
          </a:prstGeom>
        </p:spPr>
      </p:pic>
      <p:sp>
        <p:nvSpPr>
          <p:cNvPr id="21" name="Text 14"/>
          <p:cNvSpPr txBox="1"/>
          <p:nvPr/>
        </p:nvSpPr>
        <p:spPr>
          <a:xfrm>
            <a:off x="1417320" y="5102352"/>
            <a:ext cx="4297680" cy="548640"/>
          </a:xfrm>
          <a:prstGeom prst="rect">
            <a:avLst/>
          </a:prstGeom>
          <a:noFill/>
          <a:ln/>
        </p:spPr>
        <p:txBody>
          <a:bodyPr wrap="square" lIns="0" tIns="0" rIns="0" bIns="0" rtlCol="0" anchor="ctr"/>
          <a:lstStyle/>
          <a:p>
            <a:pPr marL="0" indent="0">
              <a:buNone/>
            </a:pPr>
            <a:r>
              <a:rPr lang="en-US" sz="1600" dirty="0">
                <a:solidFill>
                  <a:schemeClr val="tx1"/>
                </a:solidFill>
              </a:rPr>
              <a:t>Structured, editable complaint drafts</a:t>
            </a:r>
            <a:endParaRPr lang="en-US" sz="1600" dirty="0"/>
          </a:p>
        </p:txBody>
      </p:sp>
      <p:sp>
        <p:nvSpPr>
          <p:cNvPr id="22" name="PROPOSED NEXT"/>
          <p:cNvSpPr/>
          <p:nvPr/>
        </p:nvSpPr>
        <p:spPr>
          <a:xfrm>
            <a:off x="6291072" y="1463040"/>
            <a:ext cx="5349240" cy="4434840"/>
          </a:xfrm>
          <a:prstGeom prst="roundRect">
            <a:avLst>
              <a:gd name="adj" fmla="val 2474"/>
            </a:avLst>
          </a:prstGeom>
          <a:solidFill>
            <a:schemeClr val="bg1"/>
          </a:solidFill>
          <a:ln w="12700">
            <a:solidFill>
              <a:srgbClr val="D9E6CE"/>
            </a:solidFill>
            <a:prstDash val="solid"/>
          </a:ln>
          <a:effectLst>
            <a:outerShdw blurRad="127000" dist="25400" dir="5400000" algn="bl" rotWithShape="0">
              <a:srgbClr val="0E2E20">
                <a:alpha val="18000"/>
              </a:srgbClr>
            </a:outerShdw>
          </a:effectLst>
        </p:spPr>
      </p:sp>
      <p:sp>
        <p:nvSpPr>
          <p:cNvPr id="23" name="Shape 16"/>
          <p:cNvSpPr/>
          <p:nvPr/>
        </p:nvSpPr>
        <p:spPr>
          <a:xfrm>
            <a:off x="6473952" y="1645920"/>
            <a:ext cx="2651760" cy="411480"/>
          </a:xfrm>
          <a:prstGeom prst="roundRect">
            <a:avLst>
              <a:gd name="adj" fmla="val 48889"/>
            </a:avLst>
          </a:prstGeom>
          <a:solidFill>
            <a:schemeClr val="accent2"/>
          </a:solidFill>
          <a:ln w="12700">
            <a:solidFill>
              <a:schemeClr val="accent2"/>
            </a:solidFill>
            <a:prstDash val="solid"/>
          </a:ln>
        </p:spPr>
      </p:sp>
      <p:sp>
        <p:nvSpPr>
          <p:cNvPr id="24" name="Text 17"/>
          <p:cNvSpPr txBox="1"/>
          <p:nvPr/>
        </p:nvSpPr>
        <p:spPr>
          <a:xfrm>
            <a:off x="6473952" y="1645920"/>
            <a:ext cx="2651760" cy="411480"/>
          </a:xfrm>
          <a:prstGeom prst="rect">
            <a:avLst/>
          </a:prstGeom>
          <a:noFill/>
          <a:ln/>
        </p:spPr>
        <p:txBody>
          <a:bodyPr wrap="square" lIns="0" tIns="0" rIns="0" bIns="0" rtlCol="0" anchor="ctr"/>
          <a:lstStyle/>
          <a:p>
            <a:pPr marL="0" indent="0" algn="ctr">
              <a:buNone/>
            </a:pPr>
            <a:r>
              <a:rPr lang="en-US" sz="1400" b="1" dirty="0">
                <a:solidFill>
                  <a:schemeClr val="tx1"/>
                </a:solidFill>
              </a:rPr>
              <a:t>PROPOSED NEXT</a:t>
            </a:r>
            <a:endParaRPr lang="en-US" sz="1400" dirty="0"/>
          </a:p>
        </p:txBody>
      </p:sp>
      <p:sp>
        <p:nvSpPr>
          <p:cNvPr id="25" name="Shape 18"/>
          <p:cNvSpPr/>
          <p:nvPr/>
        </p:nvSpPr>
        <p:spPr>
          <a:xfrm>
            <a:off x="6565392" y="2331720"/>
            <a:ext cx="457200" cy="457200"/>
          </a:xfrm>
          <a:prstGeom prst="ellipse">
            <a:avLst/>
          </a:prstGeom>
          <a:solidFill>
            <a:schemeClr val="accent6"/>
          </a:solidFill>
          <a:ln w="12700">
            <a:solidFill>
              <a:schemeClr val="accent2"/>
            </a:solidFill>
            <a:prstDash val="solid"/>
          </a:ln>
        </p:spPr>
      </p:sp>
      <p:pic>
        <p:nvPicPr>
          <p:cNvPr id="26" name="Image 5" descr="PROPOSED NEXT"/>
          <p:cNvPicPr>
            <a:picLocks noChangeAspect="1"/>
          </p:cNvPicPr>
          <p:nvPr/>
        </p:nvPicPr>
        <p:blipFill>
          <a:blip r:embed="rId4"/>
          <a:stretch>
            <a:fillRect/>
          </a:stretch>
        </p:blipFill>
        <p:spPr>
          <a:xfrm>
            <a:off x="6656832" y="2423160"/>
            <a:ext cx="274320" cy="274320"/>
          </a:xfrm>
          <a:prstGeom prst="rect">
            <a:avLst/>
          </a:prstGeom>
        </p:spPr>
      </p:pic>
      <p:sp>
        <p:nvSpPr>
          <p:cNvPr id="27" name="Text 19"/>
          <p:cNvSpPr txBox="1"/>
          <p:nvPr/>
        </p:nvSpPr>
        <p:spPr>
          <a:xfrm>
            <a:off x="7159752" y="2286000"/>
            <a:ext cx="4297680" cy="548640"/>
          </a:xfrm>
          <a:prstGeom prst="rect">
            <a:avLst/>
          </a:prstGeom>
          <a:noFill/>
          <a:ln/>
        </p:spPr>
        <p:txBody>
          <a:bodyPr wrap="square" lIns="0" tIns="0" rIns="0" bIns="0" rtlCol="0" anchor="ctr"/>
          <a:lstStyle/>
          <a:p>
            <a:pPr marL="0" indent="0">
              <a:buNone/>
            </a:pPr>
            <a:r>
              <a:rPr lang="en-US" sz="1600" dirty="0">
                <a:solidFill>
                  <a:schemeClr val="tx1"/>
                </a:solidFill>
              </a:rPr>
              <a:t>Verified live market-price integration</a:t>
            </a:r>
            <a:endParaRPr lang="en-US" sz="1600" dirty="0"/>
          </a:p>
        </p:txBody>
      </p:sp>
      <p:sp>
        <p:nvSpPr>
          <p:cNvPr id="28" name="Shape 20"/>
          <p:cNvSpPr/>
          <p:nvPr/>
        </p:nvSpPr>
        <p:spPr>
          <a:xfrm>
            <a:off x="6565392" y="3035808"/>
            <a:ext cx="457200" cy="457200"/>
          </a:xfrm>
          <a:prstGeom prst="ellipse">
            <a:avLst/>
          </a:prstGeom>
          <a:solidFill>
            <a:schemeClr val="accent6"/>
          </a:solidFill>
          <a:ln w="12700">
            <a:solidFill>
              <a:schemeClr val="accent2"/>
            </a:solidFill>
            <a:prstDash val="solid"/>
          </a:ln>
        </p:spPr>
      </p:sp>
      <p:pic>
        <p:nvPicPr>
          <p:cNvPr id="29" name="Image 6" descr="PROPOSED NEXT"/>
          <p:cNvPicPr>
            <a:picLocks noChangeAspect="1"/>
          </p:cNvPicPr>
          <p:nvPr/>
        </p:nvPicPr>
        <p:blipFill>
          <a:blip r:embed="rId4"/>
          <a:stretch>
            <a:fillRect/>
          </a:stretch>
        </p:blipFill>
        <p:spPr>
          <a:xfrm>
            <a:off x="6656832" y="3127248"/>
            <a:ext cx="274320" cy="274320"/>
          </a:xfrm>
          <a:prstGeom prst="rect">
            <a:avLst/>
          </a:prstGeom>
        </p:spPr>
      </p:pic>
      <p:sp>
        <p:nvSpPr>
          <p:cNvPr id="30" name="Text 21"/>
          <p:cNvSpPr txBox="1"/>
          <p:nvPr/>
        </p:nvSpPr>
        <p:spPr>
          <a:xfrm>
            <a:off x="7159752" y="2990088"/>
            <a:ext cx="4297680" cy="548640"/>
          </a:xfrm>
          <a:prstGeom prst="rect">
            <a:avLst/>
          </a:prstGeom>
          <a:noFill/>
          <a:ln/>
        </p:spPr>
        <p:txBody>
          <a:bodyPr wrap="square" lIns="0" tIns="0" rIns="0" bIns="0" rtlCol="0" anchor="ctr"/>
          <a:lstStyle/>
          <a:p>
            <a:pPr marL="0" indent="0">
              <a:buNone/>
            </a:pPr>
            <a:r>
              <a:rPr lang="en-US" sz="1600" dirty="0">
                <a:solidFill>
                  <a:schemeClr val="tx1"/>
                </a:solidFill>
              </a:rPr>
              <a:t>District-specific weather &amp; disaster alerts</a:t>
            </a:r>
            <a:endParaRPr lang="en-US" sz="1600" dirty="0"/>
          </a:p>
        </p:txBody>
      </p:sp>
      <p:sp>
        <p:nvSpPr>
          <p:cNvPr id="31" name="Shape 22"/>
          <p:cNvSpPr/>
          <p:nvPr/>
        </p:nvSpPr>
        <p:spPr>
          <a:xfrm>
            <a:off x="6565392" y="3739896"/>
            <a:ext cx="457200" cy="457200"/>
          </a:xfrm>
          <a:prstGeom prst="ellipse">
            <a:avLst/>
          </a:prstGeom>
          <a:solidFill>
            <a:schemeClr val="accent6"/>
          </a:solidFill>
          <a:ln w="12700">
            <a:solidFill>
              <a:schemeClr val="accent2"/>
            </a:solidFill>
            <a:prstDash val="solid"/>
          </a:ln>
        </p:spPr>
      </p:sp>
      <p:pic>
        <p:nvPicPr>
          <p:cNvPr id="32" name="Image 7" descr="PROPOSED NEXT"/>
          <p:cNvPicPr>
            <a:picLocks noChangeAspect="1"/>
          </p:cNvPicPr>
          <p:nvPr/>
        </p:nvPicPr>
        <p:blipFill>
          <a:blip r:embed="rId4"/>
          <a:stretch>
            <a:fillRect/>
          </a:stretch>
        </p:blipFill>
        <p:spPr>
          <a:xfrm>
            <a:off x="6656832" y="3831336"/>
            <a:ext cx="274320" cy="274320"/>
          </a:xfrm>
          <a:prstGeom prst="rect">
            <a:avLst/>
          </a:prstGeom>
        </p:spPr>
      </p:pic>
      <p:sp>
        <p:nvSpPr>
          <p:cNvPr id="33" name="Text 23"/>
          <p:cNvSpPr txBox="1"/>
          <p:nvPr/>
        </p:nvSpPr>
        <p:spPr>
          <a:xfrm>
            <a:off x="7159752" y="3694176"/>
            <a:ext cx="4297680" cy="548640"/>
          </a:xfrm>
          <a:prstGeom prst="rect">
            <a:avLst/>
          </a:prstGeom>
          <a:noFill/>
          <a:ln/>
        </p:spPr>
        <p:txBody>
          <a:bodyPr wrap="square" lIns="0" tIns="0" rIns="0" bIns="0" rtlCol="0" anchor="ctr"/>
          <a:lstStyle/>
          <a:p>
            <a:pPr marL="0" indent="0">
              <a:buNone/>
            </a:pPr>
            <a:r>
              <a:rPr lang="en-US" sz="1600" dirty="0">
                <a:solidFill>
                  <a:schemeClr val="tx1"/>
                </a:solidFill>
              </a:rPr>
              <a:t>Maintained government scheme database</a:t>
            </a:r>
            <a:endParaRPr lang="en-US" sz="1600" dirty="0"/>
          </a:p>
        </p:txBody>
      </p:sp>
      <p:sp>
        <p:nvSpPr>
          <p:cNvPr id="34" name="Shape 24"/>
          <p:cNvSpPr/>
          <p:nvPr/>
        </p:nvSpPr>
        <p:spPr>
          <a:xfrm>
            <a:off x="6565392" y="4443984"/>
            <a:ext cx="457200" cy="457200"/>
          </a:xfrm>
          <a:prstGeom prst="ellipse">
            <a:avLst/>
          </a:prstGeom>
          <a:solidFill>
            <a:schemeClr val="accent6"/>
          </a:solidFill>
          <a:ln w="12700">
            <a:solidFill>
              <a:schemeClr val="accent2"/>
            </a:solidFill>
            <a:prstDash val="solid"/>
          </a:ln>
        </p:spPr>
      </p:sp>
      <p:pic>
        <p:nvPicPr>
          <p:cNvPr id="35" name="Image 8" descr="PROPOSED NEXT"/>
          <p:cNvPicPr>
            <a:picLocks noChangeAspect="1"/>
          </p:cNvPicPr>
          <p:nvPr/>
        </p:nvPicPr>
        <p:blipFill>
          <a:blip r:embed="rId4"/>
          <a:stretch>
            <a:fillRect/>
          </a:stretch>
        </p:blipFill>
        <p:spPr>
          <a:xfrm>
            <a:off x="6656832" y="4535424"/>
            <a:ext cx="274320" cy="274320"/>
          </a:xfrm>
          <a:prstGeom prst="rect">
            <a:avLst/>
          </a:prstGeom>
        </p:spPr>
      </p:pic>
      <p:sp>
        <p:nvSpPr>
          <p:cNvPr id="36" name="Text 25"/>
          <p:cNvSpPr txBox="1"/>
          <p:nvPr/>
        </p:nvSpPr>
        <p:spPr>
          <a:xfrm>
            <a:off x="7159752" y="4398264"/>
            <a:ext cx="4297680" cy="548640"/>
          </a:xfrm>
          <a:prstGeom prst="rect">
            <a:avLst/>
          </a:prstGeom>
          <a:noFill/>
          <a:ln/>
        </p:spPr>
        <p:txBody>
          <a:bodyPr wrap="square" lIns="0" tIns="0" rIns="0" bIns="0" rtlCol="0" anchor="ctr"/>
          <a:lstStyle/>
          <a:p>
            <a:pPr marL="0" indent="0">
              <a:buNone/>
            </a:pPr>
            <a:r>
              <a:rPr lang="en-US" sz="1600" dirty="0">
                <a:solidFill>
                  <a:schemeClr val="tx1"/>
                </a:solidFill>
              </a:rPr>
              <a:t>Secure backend and authentication</a:t>
            </a:r>
            <a:endParaRPr lang="en-US" sz="1600" dirty="0"/>
          </a:p>
        </p:txBody>
      </p:sp>
      <p:sp>
        <p:nvSpPr>
          <p:cNvPr id="37" name="Shape 26"/>
          <p:cNvSpPr/>
          <p:nvPr/>
        </p:nvSpPr>
        <p:spPr>
          <a:xfrm>
            <a:off x="6565392" y="5148072"/>
            <a:ext cx="457200" cy="457200"/>
          </a:xfrm>
          <a:prstGeom prst="ellipse">
            <a:avLst/>
          </a:prstGeom>
          <a:solidFill>
            <a:schemeClr val="accent6"/>
          </a:solidFill>
          <a:ln w="12700">
            <a:solidFill>
              <a:schemeClr val="accent2"/>
            </a:solidFill>
            <a:prstDash val="solid"/>
          </a:ln>
        </p:spPr>
      </p:sp>
      <p:pic>
        <p:nvPicPr>
          <p:cNvPr id="38" name="Image 9" descr="PROPOSED NEXT"/>
          <p:cNvPicPr>
            <a:picLocks noChangeAspect="1"/>
          </p:cNvPicPr>
          <p:nvPr/>
        </p:nvPicPr>
        <p:blipFill>
          <a:blip r:embed="rId4"/>
          <a:stretch>
            <a:fillRect/>
          </a:stretch>
        </p:blipFill>
        <p:spPr>
          <a:xfrm>
            <a:off x="6656832" y="5239512"/>
            <a:ext cx="274320" cy="274320"/>
          </a:xfrm>
          <a:prstGeom prst="rect">
            <a:avLst/>
          </a:prstGeom>
        </p:spPr>
      </p:pic>
      <p:sp>
        <p:nvSpPr>
          <p:cNvPr id="39" name="Text 27"/>
          <p:cNvSpPr txBox="1"/>
          <p:nvPr/>
        </p:nvSpPr>
        <p:spPr>
          <a:xfrm>
            <a:off x="7159752" y="5102352"/>
            <a:ext cx="4297680" cy="548640"/>
          </a:xfrm>
          <a:prstGeom prst="rect">
            <a:avLst/>
          </a:prstGeom>
          <a:noFill/>
          <a:ln/>
        </p:spPr>
        <p:txBody>
          <a:bodyPr wrap="square" lIns="0" tIns="0" rIns="0" bIns="0" rtlCol="0" anchor="ctr"/>
          <a:lstStyle/>
          <a:p>
            <a:pPr marL="0" indent="0">
              <a:buNone/>
            </a:pPr>
            <a:r>
              <a:rPr lang="en-US" sz="1600" dirty="0">
                <a:solidFill>
                  <a:schemeClr val="tx1"/>
                </a:solidFill>
              </a:rPr>
              <a:t>More regional languages &amp; accessibility</a:t>
            </a:r>
            <a:endParaRPr lang="en-US" sz="1600" dirty="0"/>
          </a:p>
        </p:txBody>
      </p:sp>
      <p:pic>
        <p:nvPicPr>
          <p:cNvPr id="40" name="Image 10" descr="next"/>
          <p:cNvPicPr>
            <a:picLocks noChangeAspect="1"/>
          </p:cNvPicPr>
          <p:nvPr/>
        </p:nvPicPr>
        <p:blipFill>
          <a:blip r:embed="rId5"/>
          <a:stretch>
            <a:fillRect/>
          </a:stretch>
        </p:blipFill>
        <p:spPr>
          <a:xfrm>
            <a:off x="5943600" y="3474720"/>
            <a:ext cx="365760" cy="365760"/>
          </a:xfrm>
          <a:prstGeom prst="rect">
            <a:avLst/>
          </a:prstGeom>
        </p:spPr>
      </p:pic>
      <p:sp>
        <p:nvSpPr>
          <p:cNvPr id="41" name="Text 28"/>
          <p:cNvSpPr txBox="1"/>
          <p:nvPr/>
        </p:nvSpPr>
        <p:spPr>
          <a:xfrm>
            <a:off x="548640" y="5989320"/>
            <a:ext cx="11155680" cy="320040"/>
          </a:xfrm>
          <a:prstGeom prst="rect">
            <a:avLst/>
          </a:prstGeom>
          <a:noFill/>
          <a:ln/>
        </p:spPr>
        <p:txBody>
          <a:bodyPr wrap="square" lIns="0" tIns="0" rIns="0" bIns="0" rtlCol="0" anchor="ctr"/>
          <a:lstStyle/>
          <a:p>
            <a:pPr marL="0" indent="0" algn="ctr">
              <a:buNone/>
            </a:pPr>
            <a:r>
              <a:rPr lang="en-US" sz="1400" i="1" dirty="0">
                <a:solidFill>
                  <a:srgbClr val="4F6558"/>
                </a:solidFill>
              </a:rPr>
              <a:t>Frontend prototype: no measured user impact is claimed yet.</a:t>
            </a:r>
            <a:endParaRPr lang="en-US" sz="1400" dirty="0"/>
          </a:p>
        </p:txBody>
      </p:sp>
      <p:sp>
        <p:nvSpPr>
          <p:cNvPr id="4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F7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22960"/>
            <a:ext cx="5577840" cy="201168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Empowering Farmers Through Accessible Technology</a:t>
            </a:r>
            <a:endParaRPr lang="en-US" sz="4000" dirty="0"/>
          </a:p>
        </p:txBody>
      </p:sp>
      <p:sp>
        <p:nvSpPr>
          <p:cNvPr id="3" name="Text 1"/>
          <p:cNvSpPr txBox="1"/>
          <p:nvPr/>
        </p:nvSpPr>
        <p:spPr>
          <a:xfrm>
            <a:off x="640080" y="2926080"/>
            <a:ext cx="5486400" cy="822960"/>
          </a:xfrm>
          <a:prstGeom prst="rect">
            <a:avLst/>
          </a:prstGeom>
          <a:noFill/>
          <a:ln/>
        </p:spPr>
        <p:txBody>
          <a:bodyPr wrap="square" lIns="0" tIns="0" rIns="0" bIns="0" rtlCol="0" anchor="t"/>
          <a:lstStyle/>
          <a:p>
            <a:pPr marL="0" indent="0">
              <a:buNone/>
            </a:pPr>
            <a:r>
              <a:rPr lang="en-US" sz="2000" dirty="0">
                <a:solidFill>
                  <a:srgbClr val="E9CF7A"/>
                </a:solidFill>
              </a:rPr>
              <a:t>Making farmer support simpler, clearer and closer to every field.</a:t>
            </a:r>
            <a:endParaRPr lang="en-US" sz="2000" dirty="0"/>
          </a:p>
        </p:txBody>
      </p:sp>
      <p:sp>
        <p:nvSpPr>
          <p:cNvPr id="4" name="Shape 2"/>
          <p:cNvSpPr/>
          <p:nvPr/>
        </p:nvSpPr>
        <p:spPr>
          <a:xfrm>
            <a:off x="640080" y="3931920"/>
            <a:ext cx="2651760" cy="438912"/>
          </a:xfrm>
          <a:prstGeom prst="roundRect">
            <a:avLst>
              <a:gd name="adj" fmla="val 50000"/>
            </a:avLst>
          </a:prstGeom>
          <a:solidFill>
            <a:srgbClr val="E6F0E0"/>
          </a:solidFill>
          <a:ln w="12700">
            <a:solidFill>
              <a:srgbClr val="E6F0E0"/>
            </a:solidFill>
            <a:prstDash val="solid"/>
          </a:ln>
        </p:spPr>
      </p:sp>
      <p:pic>
        <p:nvPicPr>
          <p:cNvPr id="5" name="Image 0" descr="One platform"/>
          <p:cNvPicPr>
            <a:picLocks noChangeAspect="1"/>
          </p:cNvPicPr>
          <p:nvPr/>
        </p:nvPicPr>
        <p:blipFill>
          <a:blip r:embed="rId4"/>
          <a:stretch>
            <a:fillRect/>
          </a:stretch>
        </p:blipFill>
        <p:spPr>
          <a:xfrm>
            <a:off x="777240" y="4023360"/>
            <a:ext cx="256032" cy="256032"/>
          </a:xfrm>
          <a:prstGeom prst="rect">
            <a:avLst/>
          </a:prstGeom>
        </p:spPr>
      </p:pic>
      <p:sp>
        <p:nvSpPr>
          <p:cNvPr id="6" name="Text 3"/>
          <p:cNvSpPr txBox="1"/>
          <p:nvPr/>
        </p:nvSpPr>
        <p:spPr>
          <a:xfrm>
            <a:off x="1143000" y="3931920"/>
            <a:ext cx="2103120" cy="438912"/>
          </a:xfrm>
          <a:prstGeom prst="rect">
            <a:avLst/>
          </a:prstGeom>
          <a:noFill/>
          <a:ln/>
        </p:spPr>
        <p:txBody>
          <a:bodyPr wrap="square" lIns="0" tIns="0" rIns="0" bIns="0" rtlCol="0" anchor="ctr"/>
          <a:lstStyle/>
          <a:p>
            <a:pPr marL="0" indent="0">
              <a:buNone/>
            </a:pPr>
            <a:r>
              <a:rPr lang="en-US" sz="1400" b="1" dirty="0">
                <a:solidFill>
                  <a:schemeClr val="tx1"/>
                </a:solidFill>
              </a:rPr>
              <a:t>One platform</a:t>
            </a:r>
            <a:endParaRPr lang="en-US" sz="1400" dirty="0"/>
          </a:p>
        </p:txBody>
      </p:sp>
      <p:sp>
        <p:nvSpPr>
          <p:cNvPr id="7" name="Shape 4"/>
          <p:cNvSpPr/>
          <p:nvPr/>
        </p:nvSpPr>
        <p:spPr>
          <a:xfrm>
            <a:off x="3474720" y="3931920"/>
            <a:ext cx="2651760" cy="438912"/>
          </a:xfrm>
          <a:prstGeom prst="roundRect">
            <a:avLst>
              <a:gd name="adj" fmla="val 50000"/>
            </a:avLst>
          </a:prstGeom>
          <a:solidFill>
            <a:srgbClr val="E6F0E0"/>
          </a:solidFill>
          <a:ln w="12700">
            <a:solidFill>
              <a:srgbClr val="E6F0E0"/>
            </a:solidFill>
            <a:prstDash val="solid"/>
          </a:ln>
        </p:spPr>
      </p:sp>
      <p:pic>
        <p:nvPicPr>
          <p:cNvPr id="8" name="Image 1" descr="Profit clarity"/>
          <p:cNvPicPr>
            <a:picLocks noChangeAspect="1"/>
          </p:cNvPicPr>
          <p:nvPr/>
        </p:nvPicPr>
        <p:blipFill>
          <a:blip r:embed="rId5"/>
          <a:stretch>
            <a:fillRect/>
          </a:stretch>
        </p:blipFill>
        <p:spPr>
          <a:xfrm>
            <a:off x="3611880" y="4023360"/>
            <a:ext cx="256032" cy="256032"/>
          </a:xfrm>
          <a:prstGeom prst="rect">
            <a:avLst/>
          </a:prstGeom>
        </p:spPr>
      </p:pic>
      <p:sp>
        <p:nvSpPr>
          <p:cNvPr id="9" name="Text 5"/>
          <p:cNvSpPr txBox="1"/>
          <p:nvPr/>
        </p:nvSpPr>
        <p:spPr>
          <a:xfrm>
            <a:off x="3977640" y="3931920"/>
            <a:ext cx="2103120" cy="438912"/>
          </a:xfrm>
          <a:prstGeom prst="rect">
            <a:avLst/>
          </a:prstGeom>
          <a:noFill/>
          <a:ln/>
        </p:spPr>
        <p:txBody>
          <a:bodyPr wrap="square" lIns="0" tIns="0" rIns="0" bIns="0" rtlCol="0" anchor="ctr"/>
          <a:lstStyle/>
          <a:p>
            <a:pPr marL="0" indent="0">
              <a:buNone/>
            </a:pPr>
            <a:r>
              <a:rPr lang="en-US" sz="1400" b="1" dirty="0">
                <a:solidFill>
                  <a:schemeClr val="tx1"/>
                </a:solidFill>
              </a:rPr>
              <a:t>Profit clarity</a:t>
            </a:r>
            <a:endParaRPr lang="en-US" sz="1400" dirty="0"/>
          </a:p>
        </p:txBody>
      </p:sp>
      <p:sp>
        <p:nvSpPr>
          <p:cNvPr id="10" name="Shape 6"/>
          <p:cNvSpPr/>
          <p:nvPr/>
        </p:nvSpPr>
        <p:spPr>
          <a:xfrm>
            <a:off x="640080" y="4480560"/>
            <a:ext cx="2651760" cy="438912"/>
          </a:xfrm>
          <a:prstGeom prst="roundRect">
            <a:avLst>
              <a:gd name="adj" fmla="val 50000"/>
            </a:avLst>
          </a:prstGeom>
          <a:solidFill>
            <a:srgbClr val="E6F0E0"/>
          </a:solidFill>
          <a:ln w="12700">
            <a:solidFill>
              <a:srgbClr val="E6F0E0"/>
            </a:solidFill>
            <a:prstDash val="solid"/>
          </a:ln>
        </p:spPr>
      </p:sp>
      <p:pic>
        <p:nvPicPr>
          <p:cNvPr id="11" name="Image 2" descr="Protection &amp; schemes"/>
          <p:cNvPicPr>
            <a:picLocks noChangeAspect="1"/>
          </p:cNvPicPr>
          <p:nvPr/>
        </p:nvPicPr>
        <p:blipFill>
          <a:blip r:embed="rId6"/>
          <a:stretch>
            <a:fillRect/>
          </a:stretch>
        </p:blipFill>
        <p:spPr>
          <a:xfrm>
            <a:off x="777240" y="4572000"/>
            <a:ext cx="256032" cy="256032"/>
          </a:xfrm>
          <a:prstGeom prst="rect">
            <a:avLst/>
          </a:prstGeom>
        </p:spPr>
      </p:pic>
      <p:sp>
        <p:nvSpPr>
          <p:cNvPr id="12" name="Text 7"/>
          <p:cNvSpPr txBox="1"/>
          <p:nvPr/>
        </p:nvSpPr>
        <p:spPr>
          <a:xfrm>
            <a:off x="1143000" y="4480560"/>
            <a:ext cx="2103120" cy="438912"/>
          </a:xfrm>
          <a:prstGeom prst="rect">
            <a:avLst/>
          </a:prstGeom>
          <a:noFill/>
          <a:ln/>
        </p:spPr>
        <p:txBody>
          <a:bodyPr wrap="square" lIns="0" tIns="0" rIns="0" bIns="0" rtlCol="0" anchor="ctr"/>
          <a:lstStyle/>
          <a:p>
            <a:pPr marL="0" indent="0">
              <a:buNone/>
            </a:pPr>
            <a:r>
              <a:rPr lang="en-US" sz="1400" b="1" dirty="0">
                <a:solidFill>
                  <a:schemeClr val="tx1"/>
                </a:solidFill>
              </a:rPr>
              <a:t>Protection &amp; schemes</a:t>
            </a:r>
            <a:endParaRPr lang="en-US" sz="1400" dirty="0"/>
          </a:p>
        </p:txBody>
      </p:sp>
      <p:sp>
        <p:nvSpPr>
          <p:cNvPr id="13" name="Shape 8"/>
          <p:cNvSpPr/>
          <p:nvPr/>
        </p:nvSpPr>
        <p:spPr>
          <a:xfrm>
            <a:off x="3474720" y="4480560"/>
            <a:ext cx="2651760" cy="438912"/>
          </a:xfrm>
          <a:prstGeom prst="roundRect">
            <a:avLst>
              <a:gd name="adj" fmla="val 50000"/>
            </a:avLst>
          </a:prstGeom>
          <a:solidFill>
            <a:srgbClr val="E6F0E0"/>
          </a:solidFill>
          <a:ln w="12700">
            <a:solidFill>
              <a:srgbClr val="E6F0E0"/>
            </a:solidFill>
            <a:prstDash val="solid"/>
          </a:ln>
        </p:spPr>
      </p:sp>
      <p:pic>
        <p:nvPicPr>
          <p:cNvPr id="14" name="Image 3" descr="Help in local languages"/>
          <p:cNvPicPr>
            <a:picLocks noChangeAspect="1"/>
          </p:cNvPicPr>
          <p:nvPr/>
        </p:nvPicPr>
        <p:blipFill>
          <a:blip r:embed="rId7"/>
          <a:stretch>
            <a:fillRect/>
          </a:stretch>
        </p:blipFill>
        <p:spPr>
          <a:xfrm>
            <a:off x="3611880" y="4572000"/>
            <a:ext cx="256032" cy="256032"/>
          </a:xfrm>
          <a:prstGeom prst="rect">
            <a:avLst/>
          </a:prstGeom>
        </p:spPr>
      </p:pic>
      <p:sp>
        <p:nvSpPr>
          <p:cNvPr id="15" name="Text 9"/>
          <p:cNvSpPr txBox="1"/>
          <p:nvPr/>
        </p:nvSpPr>
        <p:spPr>
          <a:xfrm>
            <a:off x="3977640" y="4480560"/>
            <a:ext cx="2103120" cy="438912"/>
          </a:xfrm>
          <a:prstGeom prst="rect">
            <a:avLst/>
          </a:prstGeom>
          <a:noFill/>
          <a:ln/>
        </p:spPr>
        <p:txBody>
          <a:bodyPr wrap="square" lIns="0" tIns="0" rIns="0" bIns="0" rtlCol="0" anchor="ctr"/>
          <a:lstStyle/>
          <a:p>
            <a:pPr marL="0" indent="0">
              <a:buNone/>
            </a:pPr>
            <a:r>
              <a:rPr lang="en-US" sz="1400" b="1" dirty="0">
                <a:solidFill>
                  <a:schemeClr val="tx1"/>
                </a:solidFill>
              </a:rPr>
              <a:t>Help in local languages</a:t>
            </a:r>
            <a:endParaRPr lang="en-US" sz="1400" dirty="0"/>
          </a:p>
        </p:txBody>
      </p:sp>
      <p:sp>
        <p:nvSpPr>
          <p:cNvPr id="16" name="Text 10"/>
          <p:cNvSpPr txBox="1"/>
          <p:nvPr/>
        </p:nvSpPr>
        <p:spPr>
          <a:xfrm>
            <a:off x="640080" y="5257800"/>
            <a:ext cx="5760720" cy="640080"/>
          </a:xfrm>
          <a:prstGeom prst="rect">
            <a:avLst/>
          </a:prstGeom>
          <a:noFill/>
          <a:ln/>
        </p:spPr>
        <p:txBody>
          <a:bodyPr wrap="square" lIns="0" tIns="0" rIns="0" bIns="0" rtlCol="0" anchor="ctr"/>
          <a:lstStyle/>
          <a:p>
            <a:pPr marL="0" indent="0">
              <a:buNone/>
            </a:pPr>
            <a:r>
              <a:rPr lang="en-US" sz="3200" b="1" dirty="0">
                <a:solidFill>
                  <a:srgbClr val="E9CF7A"/>
                </a:solidFill>
                <a:latin typeface="Cambria" pitchFamily="34" charset="0"/>
                <a:ea typeface="Cambria" pitchFamily="34" charset="-122"/>
                <a:cs typeface="Cambria" pitchFamily="34" charset="-120"/>
              </a:rPr>
              <a:t>Thank You</a:t>
            </a:r>
            <a:r>
              <a:rPr lang="en-US" sz="3200" b="1" dirty="0">
                <a:solidFill>
                  <a:schemeClr val="bg1"/>
                </a:solidFill>
                <a:latin typeface="Cambria" pitchFamily="34" charset="0"/>
                <a:ea typeface="Cambria" pitchFamily="34" charset="-122"/>
                <a:cs typeface="Cambria" pitchFamily="34" charset="-120"/>
              </a:rPr>
              <a:t>   Questions?</a:t>
            </a:r>
            <a:endParaRPr lang="en-US" sz="3200" dirty="0"/>
          </a:p>
        </p:txBody>
      </p:sp>
      <p:sp>
        <p:nvSpPr>
          <p:cNvPr id="17" name="Text 11"/>
          <p:cNvSpPr txBox="1"/>
          <p:nvPr/>
        </p:nvSpPr>
        <p:spPr>
          <a:xfrm>
            <a:off x="640080" y="5989320"/>
            <a:ext cx="5852160" cy="274320"/>
          </a:xfrm>
          <a:prstGeom prst="rect">
            <a:avLst/>
          </a:prstGeom>
          <a:noFill/>
          <a:ln/>
        </p:spPr>
        <p:txBody>
          <a:bodyPr wrap="square" lIns="0" tIns="0" rIns="0" bIns="0" rtlCol="0" anchor="ctr"/>
          <a:lstStyle/>
          <a:p>
            <a:pPr marL="0" indent="0">
              <a:buNone/>
            </a:pPr>
            <a:r>
              <a:rPr lang="en-US" sz="1200" dirty="0">
                <a:solidFill>
                  <a:srgbClr val="CFE7B4"/>
                </a:solidFill>
              </a:rPr>
              <a:t>Team [Team Name]  ·  [Member 1] · [Member 2] · [Member 3] · [Member 4]</a:t>
            </a:r>
            <a:endParaRPr lang="en-US" sz="1200" dirty="0"/>
          </a:p>
        </p:txBody>
      </p:sp>
      <p:sp>
        <p:nvSpPr>
          <p:cNvPr id="18" name="Dashboard screenshot frame"/>
          <p:cNvSpPr/>
          <p:nvPr/>
        </p:nvSpPr>
        <p:spPr>
          <a:xfrm>
            <a:off x="6601968" y="841248"/>
            <a:ext cx="5084064" cy="3061156"/>
          </a:xfrm>
          <a:prstGeom prst="roundRect">
            <a:avLst>
              <a:gd name="adj" fmla="val 3585"/>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19" name="Dashboard screenshot" descr="Dashboard screenshot"/>
          <p:cNvPicPr>
            <a:picLocks noChangeAspect="1"/>
          </p:cNvPicPr>
          <p:nvPr/>
        </p:nvPicPr>
        <p:blipFill>
          <a:blip r:embed="rId8"/>
          <a:stretch>
            <a:fillRect/>
          </a:stretch>
        </p:blipFill>
        <p:spPr>
          <a:xfrm>
            <a:off x="6675120" y="914400"/>
            <a:ext cx="4937760" cy="2914852"/>
          </a:xfrm>
          <a:prstGeom prst="rect">
            <a:avLst/>
          </a:prstGeom>
        </p:spPr>
      </p:pic>
      <p:sp>
        <p:nvSpPr>
          <p:cNvPr id="20" name="Profit screenshot frame"/>
          <p:cNvSpPr/>
          <p:nvPr/>
        </p:nvSpPr>
        <p:spPr>
          <a:xfrm>
            <a:off x="6601968" y="4041648"/>
            <a:ext cx="2523744" cy="1397588"/>
          </a:xfrm>
          <a:prstGeom prst="roundRect">
            <a:avLst>
              <a:gd name="adj" fmla="val 7851"/>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21" name="Profit screenshot" descr="Profit screenshot"/>
          <p:cNvPicPr>
            <a:picLocks noChangeAspect="1"/>
          </p:cNvPicPr>
          <p:nvPr/>
        </p:nvPicPr>
        <p:blipFill>
          <a:blip r:embed="rId9"/>
          <a:stretch>
            <a:fillRect/>
          </a:stretch>
        </p:blipFill>
        <p:spPr>
          <a:xfrm>
            <a:off x="6675120" y="4114800"/>
            <a:ext cx="2377440" cy="1251284"/>
          </a:xfrm>
          <a:prstGeom prst="rect">
            <a:avLst/>
          </a:prstGeom>
        </p:spPr>
      </p:pic>
      <p:sp>
        <p:nvSpPr>
          <p:cNvPr id="22" name="Schemes screenshot frame"/>
          <p:cNvSpPr/>
          <p:nvPr/>
        </p:nvSpPr>
        <p:spPr>
          <a:xfrm>
            <a:off x="9253728" y="4041648"/>
            <a:ext cx="2432304" cy="1388695"/>
          </a:xfrm>
          <a:prstGeom prst="roundRect">
            <a:avLst>
              <a:gd name="adj" fmla="val 7902"/>
            </a:avLst>
          </a:prstGeom>
          <a:solidFill>
            <a:schemeClr val="bg1"/>
          </a:solidFill>
          <a:ln w="12700">
            <a:solidFill>
              <a:srgbClr val="CFE0C2"/>
            </a:solidFill>
            <a:prstDash val="solid"/>
          </a:ln>
          <a:effectLst>
            <a:outerShdw blurRad="127000" dist="25400" dir="5400000" algn="bl" rotWithShape="0">
              <a:srgbClr val="0E2E20">
                <a:alpha val="18000"/>
              </a:srgbClr>
            </a:outerShdw>
          </a:effectLst>
        </p:spPr>
      </p:sp>
      <p:pic>
        <p:nvPicPr>
          <p:cNvPr id="23" name="Schemes screenshot" descr="Schemes screenshot"/>
          <p:cNvPicPr>
            <a:picLocks noChangeAspect="1"/>
          </p:cNvPicPr>
          <p:nvPr/>
        </p:nvPicPr>
        <p:blipFill>
          <a:blip r:embed="rId10"/>
          <a:stretch>
            <a:fillRect/>
          </a:stretch>
        </p:blipFill>
        <p:spPr>
          <a:xfrm>
            <a:off x="9326880" y="4114800"/>
            <a:ext cx="2286000" cy="1242391"/>
          </a:xfrm>
          <a:prstGeom prst="rect">
            <a:avLst/>
          </a:prstGeom>
        </p:spPr>
      </p:pic>
      <p:sp>
        <p:nvSpPr>
          <p:cNvPr id="24" name="Text 15"/>
          <p:cNvSpPr txBox="1"/>
          <p:nvPr/>
        </p:nvSpPr>
        <p:spPr>
          <a:xfrm>
            <a:off x="6675120" y="5669280"/>
            <a:ext cx="4937760" cy="274320"/>
          </a:xfrm>
          <a:prstGeom prst="rect">
            <a:avLst/>
          </a:prstGeom>
          <a:noFill/>
          <a:ln/>
        </p:spPr>
        <p:txBody>
          <a:bodyPr wrap="square" lIns="0" tIns="0" rIns="0" bIns="0" rtlCol="0" anchor="ctr"/>
          <a:lstStyle/>
          <a:p>
            <a:pPr marL="0" indent="0">
              <a:buNone/>
            </a:pPr>
            <a:r>
              <a:rPr lang="en-US" sz="1200" i="1" dirty="0">
                <a:solidFill>
                  <a:srgbClr val="E6F0E0"/>
                </a:solidFill>
              </a:rPr>
              <a:t>Actual screenshots from the working prototype</a:t>
            </a:r>
            <a:endParaRPr lang="en-US" sz="1200" dirty="0"/>
          </a:p>
        </p:txBody>
      </p:sp>
    </p:spTree>
  </p:cSld>
  <p:clrMapOvr>
    <a:masterClrMapping/>
  </p:clrMapOvr>
</p:sld>
</file>

<file path=ppt/theme/theme1.xml><?xml version="1.0" encoding="utf-8"?>
<a:theme xmlns:a="http://schemas.openxmlformats.org/drawingml/2006/main" name="Ulavar Nanban">
  <a:themeElements>
    <a:clrScheme name="Ulavar Nanban">
      <a:dk1>
        <a:srgbClr val="0E2E20"/>
      </a:dk1>
      <a:lt1>
        <a:srgbClr val="FFFFFF"/>
      </a:lt1>
      <a:dk2>
        <a:srgbClr val="1B4D33"/>
      </a:dk2>
      <a:lt2>
        <a:srgbClr val="EEF5E8"/>
      </a:lt2>
      <a:accent1>
        <a:srgbClr val="4C9A3A"/>
      </a:accent1>
      <a:accent2>
        <a:srgbClr val="C9A24B"/>
      </a:accent2>
      <a:accent3>
        <a:srgbClr val="8CC26B"/>
      </a:accent3>
      <a:accent4>
        <a:srgbClr val="2F6F4A"/>
      </a:accent4>
      <a:accent5>
        <a:srgbClr val="DCEBCB"/>
      </a:accent5>
      <a:accent6>
        <a:srgbClr val="FFF4D6"/>
      </a:accent6>
      <a:hlink>
        <a:srgbClr val="2F6F4A"/>
      </a:hlink>
      <a:folHlink>
        <a:srgbClr val="8A6D2F"/>
      </a:folHlink>
    </a:clrScheme>
    <a:fontScheme name="Ulavar Nanb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Ulavar Nanban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Ulavar Nanban – Hackathon Pitch</dc:title>
  <dc:subject>PptxGenJS Presentation</dc:subject>
  <dc:creator>Team Ulavar Nanban</dc:creator>
  <cp:lastModifiedBy>Madhu Mitha</cp:lastModifiedBy>
  <cp:revision>2</cp:revision>
  <dcterms:created xsi:type="dcterms:W3CDTF">2026-10-23T07:23:55Z</dcterms:created>
  <dcterms:modified xsi:type="dcterms:W3CDTF">2026-10-23T07:25:14Z</dcterms:modified>
</cp:coreProperties>
</file>